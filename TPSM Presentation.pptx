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8" r:id="rId9"/>
    <p:sldId id="269" r:id="rId10"/>
    <p:sldId id="263"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2562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48122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88105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chemeClr val="accent1">
              <a:lumMod val="60000"/>
              <a:lumOff val="40000"/>
            </a:schemeClr>
          </a:solidFill>
          <a:ln w="12700">
            <a:solidFill>
              <a:srgbClr val="0A9396"/>
            </a:solidFill>
            <a:prstDash val="solid"/>
          </a:ln>
        </p:spPr>
        <p:txBody>
          <a:bodyPr/>
          <a:lstStyle/>
          <a:p>
            <a:endParaRPr lang="en-US"/>
          </a:p>
        </p:txBody>
      </p:sp>
      <p:sp>
        <p:nvSpPr>
          <p:cNvPr id="3" name="Shape 1"/>
          <p:cNvSpPr/>
          <p:nvPr/>
        </p:nvSpPr>
        <p:spPr>
          <a:xfrm>
            <a:off x="6858000" y="0"/>
            <a:ext cx="2286000" cy="1645920"/>
          </a:xfrm>
          <a:prstGeom prst="rect">
            <a:avLst/>
          </a:prstGeom>
          <a:solidFill>
            <a:srgbClr val="005F73">
              <a:alpha val="40000"/>
            </a:srgbClr>
          </a:solidFill>
          <a:ln w="12700">
            <a:solidFill>
              <a:srgbClr val="005F73">
                <a:alpha val="40000"/>
              </a:srgbClr>
            </a:solidFill>
            <a:prstDash val="solid"/>
          </a:ln>
        </p:spPr>
        <p:txBody>
          <a:bodyPr/>
          <a:lstStyle/>
          <a:p>
            <a:endParaRPr lang="en-US"/>
          </a:p>
        </p:txBody>
      </p:sp>
      <p:sp>
        <p:nvSpPr>
          <p:cNvPr id="4" name="Shape 2"/>
          <p:cNvSpPr/>
          <p:nvPr/>
        </p:nvSpPr>
        <p:spPr>
          <a:xfrm>
            <a:off x="7498080" y="0"/>
            <a:ext cx="1645920" cy="2560320"/>
          </a:xfrm>
          <a:prstGeom prst="rect">
            <a:avLst/>
          </a:prstGeom>
          <a:solidFill>
            <a:schemeClr val="accent5">
              <a:alpha val="25000"/>
            </a:schemeClr>
          </a:solidFill>
          <a:ln w="12700">
            <a:solidFill>
              <a:srgbClr val="0A9396">
                <a:alpha val="25000"/>
              </a:srgbClr>
            </a:solidFill>
            <a:prstDash val="solid"/>
          </a:ln>
        </p:spPr>
        <p:txBody>
          <a:bodyPr/>
          <a:lstStyle/>
          <a:p>
            <a:endParaRPr lang="en-US"/>
          </a:p>
        </p:txBody>
      </p:sp>
      <p:sp>
        <p:nvSpPr>
          <p:cNvPr id="5" name="Shape 3"/>
          <p:cNvSpPr/>
          <p:nvPr/>
        </p:nvSpPr>
        <p:spPr>
          <a:xfrm>
            <a:off x="457200" y="365760"/>
            <a:ext cx="2011680" cy="347472"/>
          </a:xfrm>
          <a:prstGeom prst="rect">
            <a:avLst/>
          </a:prstGeom>
          <a:solidFill>
            <a:schemeClr val="accent1">
              <a:lumMod val="75000"/>
            </a:schemeClr>
          </a:solidFill>
          <a:ln w="12700">
            <a:solidFill>
              <a:srgbClr val="0A9396"/>
            </a:solidFill>
            <a:prstDash val="solid"/>
          </a:ln>
        </p:spPr>
        <p:txBody>
          <a:bodyPr/>
          <a:lstStyle/>
          <a:p>
            <a:endParaRPr lang="en-US"/>
          </a:p>
        </p:txBody>
      </p:sp>
      <p:sp>
        <p:nvSpPr>
          <p:cNvPr id="6" name="Text 4"/>
          <p:cNvSpPr/>
          <p:nvPr/>
        </p:nvSpPr>
        <p:spPr>
          <a:xfrm>
            <a:off x="457200" y="3657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rPr>
              <a:t>IT3011 · TPSM</a:t>
            </a:r>
            <a:endParaRPr lang="en-US" sz="1000" dirty="0"/>
          </a:p>
        </p:txBody>
      </p:sp>
      <p:sp>
        <p:nvSpPr>
          <p:cNvPr id="7" name="Text 5"/>
          <p:cNvSpPr/>
          <p:nvPr/>
        </p:nvSpPr>
        <p:spPr>
          <a:xfrm>
            <a:off x="457200" y="1005840"/>
            <a:ext cx="7772400" cy="777240"/>
          </a:xfrm>
          <a:prstGeom prst="rect">
            <a:avLst/>
          </a:prstGeom>
          <a:noFill/>
          <a:ln/>
        </p:spPr>
        <p:txBody>
          <a:bodyPr wrap="square" rtlCol="0" anchor="ctr"/>
          <a:lstStyle/>
          <a:p>
            <a:pPr marL="0" indent="0">
              <a:buNone/>
            </a:pPr>
            <a:r>
              <a:rPr lang="en-US" sz="4400" b="1" dirty="0">
                <a:solidFill>
                  <a:srgbClr val="F9FAFB"/>
                </a:solidFill>
                <a:effectLst/>
                <a:latin typeface="quote-cjk-patch"/>
              </a:rPr>
              <a:t>Customers who</a:t>
            </a:r>
            <a:endParaRPr lang="en-US" sz="4400" dirty="0"/>
          </a:p>
        </p:txBody>
      </p:sp>
      <p:sp>
        <p:nvSpPr>
          <p:cNvPr id="8" name="Text 6"/>
          <p:cNvSpPr/>
          <p:nvPr/>
        </p:nvSpPr>
        <p:spPr>
          <a:xfrm>
            <a:off x="457200" y="1737360"/>
            <a:ext cx="7983940" cy="1115568"/>
          </a:xfrm>
          <a:prstGeom prst="rect">
            <a:avLst/>
          </a:prstGeom>
          <a:noFill/>
          <a:ln/>
        </p:spPr>
        <p:txBody>
          <a:bodyPr wrap="square" rtlCol="0" anchor="ctr"/>
          <a:lstStyle/>
          <a:p>
            <a:pPr marL="0" indent="0">
              <a:buNone/>
            </a:pPr>
            <a:r>
              <a:rPr lang="en-US" sz="4400" b="1" dirty="0">
                <a:solidFill>
                  <a:srgbClr val="0070C0"/>
                </a:solidFill>
                <a:latin typeface="Calibri" pitchFamily="34" charset="0"/>
                <a:ea typeface="Calibri" pitchFamily="34" charset="-122"/>
                <a:cs typeface="Calibri" pitchFamily="34" charset="-120"/>
              </a:rPr>
              <a:t>Receive timely updates feel more confident about service</a:t>
            </a:r>
            <a:endParaRPr lang="en-US" sz="4400" dirty="0">
              <a:solidFill>
                <a:srgbClr val="0070C0"/>
              </a:solidFill>
            </a:endParaRPr>
          </a:p>
        </p:txBody>
      </p:sp>
      <p:sp>
        <p:nvSpPr>
          <p:cNvPr id="10" name="Text 8"/>
          <p:cNvSpPr/>
          <p:nvPr/>
        </p:nvSpPr>
        <p:spPr>
          <a:xfrm>
            <a:off x="457200" y="2788920"/>
            <a:ext cx="7315200" cy="411480"/>
          </a:xfrm>
          <a:prstGeom prst="rect">
            <a:avLst/>
          </a:prstGeom>
          <a:noFill/>
          <a:ln/>
        </p:spPr>
        <p:txBody>
          <a:bodyPr wrap="square" rtlCol="0" anchor="ctr"/>
          <a:lstStyle/>
          <a:p>
            <a:pPr marL="0" indent="0">
              <a:buNone/>
            </a:pPr>
            <a:r>
              <a:rPr lang="en-US" sz="1400" i="1" dirty="0">
                <a:solidFill>
                  <a:srgbClr val="94A3B8"/>
                </a:solidFill>
              </a:rPr>
              <a:t>A statistical  study using the Red Wine Quality dataset</a:t>
            </a:r>
            <a:endParaRPr lang="en-US" sz="1400" dirty="0"/>
          </a:p>
        </p:txBody>
      </p:sp>
      <p:sp>
        <p:nvSpPr>
          <p:cNvPr id="11" name="Shape 9"/>
          <p:cNvSpPr/>
          <p:nvPr/>
        </p:nvSpPr>
        <p:spPr>
          <a:xfrm>
            <a:off x="0" y="4572000"/>
            <a:ext cx="9144000" cy="571500"/>
          </a:xfrm>
          <a:prstGeom prst="rect">
            <a:avLst/>
          </a:prstGeom>
          <a:solidFill>
            <a:schemeClr val="accent5">
              <a:lumMod val="50000"/>
            </a:schemeClr>
          </a:solidFill>
          <a:ln w="12700">
            <a:solidFill>
              <a:srgbClr val="005F73"/>
            </a:solidFill>
            <a:prstDash val="solid"/>
          </a:ln>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rgbClr val="00B0F0"/>
          </a:solidFill>
          <a:ln w="12700">
            <a:solidFill>
              <a:srgbClr val="0A9396"/>
            </a:solidFill>
            <a:prstDash val="solid"/>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buNone/>
            </a:pPr>
            <a:r>
              <a:rPr lang="en-US" sz="2000" b="1" dirty="0">
                <a:solidFill>
                  <a:srgbClr val="FFFFFF"/>
                </a:solidFill>
              </a:rPr>
              <a:t>Problem Statement</a:t>
            </a:r>
            <a:endParaRPr lang="en-US" sz="2000" dirty="0"/>
          </a:p>
        </p:txBody>
      </p:sp>
      <p:sp>
        <p:nvSpPr>
          <p:cNvPr id="5" name="Shape 3"/>
          <p:cNvSpPr/>
          <p:nvPr/>
        </p:nvSpPr>
        <p:spPr>
          <a:xfrm>
            <a:off x="457200" y="914400"/>
            <a:ext cx="8229600" cy="1280160"/>
          </a:xfrm>
          <a:prstGeom prst="rect">
            <a:avLst/>
          </a:prstGeom>
          <a:solidFill>
            <a:srgbClr val="005F73"/>
          </a:solidFill>
          <a:ln w="12700">
            <a:solidFill>
              <a:srgbClr val="005F73"/>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457200" y="914400"/>
            <a:ext cx="8458200" cy="1280160"/>
          </a:xfrm>
          <a:prstGeom prst="rect">
            <a:avLst/>
          </a:prstGeom>
          <a:solidFill>
            <a:schemeClr val="accent5">
              <a:lumMod val="75000"/>
            </a:schemeClr>
          </a:solidFill>
          <a:ln/>
        </p:spPr>
        <p:txBody>
          <a:bodyPr wrap="square" rtlCol="0" anchor="ctr"/>
          <a:lstStyle/>
          <a:p>
            <a:pPr marL="0" indent="0" algn="ctr">
              <a:buNone/>
            </a:pPr>
            <a:r>
              <a:rPr lang="en-US" sz="3600" b="1" dirty="0">
                <a:solidFill>
                  <a:srgbClr val="E9C46A"/>
                </a:solidFill>
              </a:rPr>
              <a:t>"</a:t>
            </a:r>
            <a:r>
              <a:rPr lang="en-US" sz="2000" b="1" dirty="0">
                <a:solidFill>
                  <a:srgbClr val="FFFFFF"/>
                </a:solidFill>
              </a:rPr>
              <a:t> </a:t>
            </a:r>
            <a:r>
              <a:rPr lang="en-US" b="1" dirty="0">
                <a:solidFill>
                  <a:srgbClr val="F9FAFB"/>
                </a:solidFill>
                <a:effectLst/>
                <a:latin typeface="quote-cjk-patch"/>
              </a:rPr>
              <a:t>Customers who receive timely updates feel more confident about the service</a:t>
            </a:r>
            <a:r>
              <a:rPr lang="en-US" sz="2000" b="0" i="1" dirty="0">
                <a:solidFill>
                  <a:srgbClr val="F9FAFB"/>
                </a:solidFill>
                <a:effectLst/>
                <a:latin typeface="quote-cjk-patch"/>
              </a:rPr>
              <a:t>.</a:t>
            </a:r>
            <a:r>
              <a:rPr lang="en-US" sz="3600" b="1" dirty="0">
                <a:solidFill>
                  <a:srgbClr val="E9C46A"/>
                </a:solidFill>
              </a:rPr>
              <a:t>"</a:t>
            </a:r>
            <a:endParaRPr lang="en-US" sz="3600" dirty="0"/>
          </a:p>
        </p:txBody>
      </p:sp>
      <p:sp>
        <p:nvSpPr>
          <p:cNvPr id="7" name="Shape 5"/>
          <p:cNvSpPr/>
          <p:nvPr/>
        </p:nvSpPr>
        <p:spPr>
          <a:xfrm>
            <a:off x="320040" y="2423160"/>
            <a:ext cx="2743200" cy="23774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320040" y="2423160"/>
            <a:ext cx="2743200" cy="64008"/>
          </a:xfrm>
          <a:prstGeom prst="rect">
            <a:avLst/>
          </a:prstGeom>
          <a:solidFill>
            <a:srgbClr val="0A9396"/>
          </a:solidFill>
          <a:ln w="12700">
            <a:solidFill>
              <a:srgbClr val="0A9396"/>
            </a:solidFill>
            <a:prstDash val="solid"/>
          </a:ln>
        </p:spPr>
        <p:txBody>
          <a:bodyPr/>
          <a:lstStyle/>
          <a:p>
            <a:endParaRPr lang="en-US"/>
          </a:p>
        </p:txBody>
      </p:sp>
      <p:sp>
        <p:nvSpPr>
          <p:cNvPr id="9" name="Text 7"/>
          <p:cNvSpPr/>
          <p:nvPr/>
        </p:nvSpPr>
        <p:spPr>
          <a:xfrm>
            <a:off x="457200" y="2542032"/>
            <a:ext cx="2468880" cy="347472"/>
          </a:xfrm>
          <a:prstGeom prst="rect">
            <a:avLst/>
          </a:prstGeom>
          <a:noFill/>
          <a:ln/>
        </p:spPr>
        <p:txBody>
          <a:bodyPr wrap="square" rtlCol="0" anchor="ctr"/>
          <a:lstStyle/>
          <a:p>
            <a:pPr marL="0" indent="0">
              <a:buNone/>
            </a:pPr>
            <a:r>
              <a:rPr lang="en-US" sz="1200" b="1" dirty="0">
                <a:solidFill>
                  <a:srgbClr val="005F73"/>
                </a:solidFill>
              </a:rPr>
              <a:t>Real-world problem</a:t>
            </a:r>
            <a:endParaRPr lang="en-US" sz="1200" dirty="0"/>
          </a:p>
        </p:txBody>
      </p:sp>
      <p:sp>
        <p:nvSpPr>
          <p:cNvPr id="10" name="Text 8"/>
          <p:cNvSpPr/>
          <p:nvPr/>
        </p:nvSpPr>
        <p:spPr>
          <a:xfrm>
            <a:off x="457200" y="2926080"/>
            <a:ext cx="2468880" cy="1645920"/>
          </a:xfrm>
          <a:prstGeom prst="rect">
            <a:avLst/>
          </a:prstGeom>
          <a:noFill/>
          <a:ln/>
        </p:spPr>
        <p:txBody>
          <a:bodyPr wrap="square" rtlCol="0" anchor="t"/>
          <a:lstStyle/>
          <a:p>
            <a:pPr marL="0" indent="0" algn="just">
              <a:buNone/>
            </a:pPr>
            <a:r>
              <a:rPr lang="en-US" sz="1100" b="0" i="0" dirty="0">
                <a:effectLst/>
                <a:latin typeface="quote-cjk-patch"/>
              </a:rPr>
              <a:t>In hospitality, slow responses to guest requests (room service, maintenance, etc.) damage trust and satisfaction.</a:t>
            </a:r>
            <a:endParaRPr lang="en-US" sz="1100" dirty="0"/>
          </a:p>
        </p:txBody>
      </p:sp>
      <p:sp>
        <p:nvSpPr>
          <p:cNvPr id="11" name="Shape 9"/>
          <p:cNvSpPr/>
          <p:nvPr/>
        </p:nvSpPr>
        <p:spPr>
          <a:xfrm>
            <a:off x="3246120" y="2423160"/>
            <a:ext cx="2743200" cy="23774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3246120" y="2423160"/>
            <a:ext cx="2743200" cy="64008"/>
          </a:xfrm>
          <a:prstGeom prst="rect">
            <a:avLst/>
          </a:prstGeom>
          <a:solidFill>
            <a:srgbClr val="0A9396"/>
          </a:solidFill>
          <a:ln w="12700">
            <a:solidFill>
              <a:srgbClr val="0A9396"/>
            </a:solidFill>
            <a:prstDash val="solid"/>
          </a:ln>
        </p:spPr>
        <p:txBody>
          <a:bodyPr/>
          <a:lstStyle/>
          <a:p>
            <a:endParaRPr lang="en-US"/>
          </a:p>
        </p:txBody>
      </p:sp>
      <p:sp>
        <p:nvSpPr>
          <p:cNvPr id="13" name="Text 11"/>
          <p:cNvSpPr/>
          <p:nvPr/>
        </p:nvSpPr>
        <p:spPr>
          <a:xfrm>
            <a:off x="3383280" y="2542032"/>
            <a:ext cx="2468880" cy="347472"/>
          </a:xfrm>
          <a:prstGeom prst="rect">
            <a:avLst/>
          </a:prstGeom>
          <a:noFill/>
          <a:ln/>
        </p:spPr>
        <p:txBody>
          <a:bodyPr wrap="square" rtlCol="0" anchor="ctr"/>
          <a:lstStyle/>
          <a:p>
            <a:pPr marL="0" indent="0">
              <a:buNone/>
            </a:pPr>
            <a:r>
              <a:rPr lang="en-US" sz="1200" b="1" dirty="0">
                <a:solidFill>
                  <a:srgbClr val="005F73"/>
                </a:solidFill>
              </a:rPr>
              <a:t>Research question</a:t>
            </a:r>
            <a:endParaRPr lang="en-US" sz="1200" dirty="0"/>
          </a:p>
        </p:txBody>
      </p:sp>
      <p:sp>
        <p:nvSpPr>
          <p:cNvPr id="14" name="Text 12"/>
          <p:cNvSpPr/>
          <p:nvPr/>
        </p:nvSpPr>
        <p:spPr>
          <a:xfrm>
            <a:off x="3383280" y="2926080"/>
            <a:ext cx="2468880" cy="1645920"/>
          </a:xfrm>
          <a:prstGeom prst="rect">
            <a:avLst/>
          </a:prstGeom>
          <a:noFill/>
          <a:ln/>
        </p:spPr>
        <p:txBody>
          <a:bodyPr wrap="square" rtlCol="0" anchor="t"/>
          <a:lstStyle/>
          <a:p>
            <a:pPr marL="0" indent="0" algn="just">
              <a:buNone/>
            </a:pPr>
            <a:r>
              <a:rPr lang="en-US" sz="1100" dirty="0">
                <a:effectLst/>
                <a:latin typeface="quote-cjk-patch"/>
              </a:rPr>
              <a:t>Does service response time significantly affect customer satisfaction (quality score)?</a:t>
            </a:r>
            <a:endParaRPr lang="en-US" sz="1100" dirty="0"/>
          </a:p>
        </p:txBody>
      </p:sp>
      <p:sp>
        <p:nvSpPr>
          <p:cNvPr id="15" name="Shape 13"/>
          <p:cNvSpPr/>
          <p:nvPr/>
        </p:nvSpPr>
        <p:spPr>
          <a:xfrm>
            <a:off x="6172200" y="2423160"/>
            <a:ext cx="2743200" cy="23774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6172200" y="2423160"/>
            <a:ext cx="2743200" cy="64008"/>
          </a:xfrm>
          <a:prstGeom prst="rect">
            <a:avLst/>
          </a:prstGeom>
          <a:solidFill>
            <a:srgbClr val="0A9396"/>
          </a:solidFill>
          <a:ln w="12700">
            <a:solidFill>
              <a:srgbClr val="0A9396"/>
            </a:solidFill>
            <a:prstDash val="solid"/>
          </a:ln>
        </p:spPr>
        <p:txBody>
          <a:bodyPr/>
          <a:lstStyle/>
          <a:p>
            <a:endParaRPr lang="en-US"/>
          </a:p>
        </p:txBody>
      </p:sp>
      <p:sp>
        <p:nvSpPr>
          <p:cNvPr id="17" name="Text 15"/>
          <p:cNvSpPr/>
          <p:nvPr/>
        </p:nvSpPr>
        <p:spPr>
          <a:xfrm>
            <a:off x="6309360" y="2542032"/>
            <a:ext cx="2468880" cy="347472"/>
          </a:xfrm>
          <a:prstGeom prst="rect">
            <a:avLst/>
          </a:prstGeom>
          <a:noFill/>
          <a:ln/>
        </p:spPr>
        <p:txBody>
          <a:bodyPr wrap="square" rtlCol="0" anchor="ctr"/>
          <a:lstStyle/>
          <a:p>
            <a:pPr marL="0" indent="0">
              <a:buNone/>
            </a:pPr>
            <a:r>
              <a:rPr lang="en-US" sz="1200" b="1" dirty="0">
                <a:solidFill>
                  <a:srgbClr val="005F73"/>
                </a:solidFill>
              </a:rPr>
              <a:t>Our dataset</a:t>
            </a:r>
            <a:endParaRPr lang="en-US" sz="1200" dirty="0"/>
          </a:p>
        </p:txBody>
      </p:sp>
      <p:sp>
        <p:nvSpPr>
          <p:cNvPr id="18" name="Text 16"/>
          <p:cNvSpPr/>
          <p:nvPr/>
        </p:nvSpPr>
        <p:spPr>
          <a:xfrm>
            <a:off x="6309360" y="2926080"/>
            <a:ext cx="2468880" cy="1645920"/>
          </a:xfrm>
          <a:prstGeom prst="rect">
            <a:avLst/>
          </a:prstGeom>
          <a:noFill/>
          <a:ln/>
        </p:spPr>
        <p:txBody>
          <a:bodyPr wrap="square" rtlCol="0" anchor="t"/>
          <a:lstStyle/>
          <a:p>
            <a:pPr marL="0" indent="0">
              <a:buNone/>
            </a:pPr>
            <a:r>
              <a:rPr lang="en-US" sz="1100" b="1" dirty="0">
                <a:solidFill>
                  <a:srgbClr val="1E293B"/>
                </a:solidFill>
              </a:rPr>
              <a:t>3000 customer response samples. </a:t>
            </a:r>
            <a:endParaRPr lang="en-US" sz="1100" b="1" dirty="0"/>
          </a:p>
        </p:txBody>
      </p:sp>
      <p:sp>
        <p:nvSpPr>
          <p:cNvPr id="19" name="Shape 17"/>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20" name="Text 18"/>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rgbClr val="0070C0"/>
          </a:solidFill>
          <a:ln w="12700">
            <a:solidFill>
              <a:srgbClr val="E9C46A"/>
            </a:solidFill>
            <a:prstDash val="solid"/>
          </a:ln>
        </p:spPr>
        <p:txBody>
          <a:bodyPr/>
          <a:lstStyle/>
          <a:p>
            <a:endParaRPr lang="en-US" dirty="0"/>
          </a:p>
        </p:txBody>
      </p:sp>
      <p:sp>
        <p:nvSpPr>
          <p:cNvPr id="4" name="Text 2"/>
          <p:cNvSpPr/>
          <p:nvPr/>
        </p:nvSpPr>
        <p:spPr>
          <a:xfrm>
            <a:off x="365760" y="0"/>
            <a:ext cx="8229600" cy="685800"/>
          </a:xfrm>
          <a:prstGeom prst="rect">
            <a:avLst/>
          </a:prstGeom>
          <a:noFill/>
          <a:ln/>
        </p:spPr>
        <p:txBody>
          <a:bodyPr wrap="square" rtlCol="0" anchor="ctr"/>
          <a:lstStyle/>
          <a:p>
            <a:pPr marL="0" indent="0">
              <a:buNone/>
            </a:pPr>
            <a:r>
              <a:rPr lang="en-US" sz="2000" b="1" dirty="0">
                <a:solidFill>
                  <a:srgbClr val="FFFFFF"/>
                </a:solidFill>
              </a:rPr>
              <a:t>Objectives</a:t>
            </a:r>
            <a:endParaRPr lang="en-US" sz="2000" dirty="0"/>
          </a:p>
        </p:txBody>
      </p:sp>
      <p:sp>
        <p:nvSpPr>
          <p:cNvPr id="5" name="Shape 3"/>
          <p:cNvSpPr/>
          <p:nvPr/>
        </p:nvSpPr>
        <p:spPr>
          <a:xfrm>
            <a:off x="365760" y="846841"/>
            <a:ext cx="8390985" cy="764281"/>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6" name="Shape 4"/>
          <p:cNvSpPr/>
          <p:nvPr/>
        </p:nvSpPr>
        <p:spPr>
          <a:xfrm>
            <a:off x="365760" y="868680"/>
            <a:ext cx="822960" cy="752672"/>
          </a:xfrm>
          <a:prstGeom prst="rect">
            <a:avLst/>
          </a:prstGeom>
          <a:solidFill>
            <a:srgbClr val="0D1B2A"/>
          </a:solidFill>
          <a:ln w="12700">
            <a:solidFill>
              <a:srgbClr val="0D1B2A"/>
            </a:solidFill>
            <a:prstDash val="solid"/>
          </a:ln>
        </p:spPr>
        <p:txBody>
          <a:bodyPr/>
          <a:lstStyle/>
          <a:p>
            <a:endParaRPr lang="en-US"/>
          </a:p>
        </p:txBody>
      </p:sp>
      <p:sp>
        <p:nvSpPr>
          <p:cNvPr id="7" name="Text 5"/>
          <p:cNvSpPr/>
          <p:nvPr/>
        </p:nvSpPr>
        <p:spPr>
          <a:xfrm>
            <a:off x="387255" y="891195"/>
            <a:ext cx="822960" cy="584808"/>
          </a:xfrm>
          <a:prstGeom prst="rect">
            <a:avLst/>
          </a:prstGeom>
          <a:noFill/>
          <a:ln/>
        </p:spPr>
        <p:txBody>
          <a:bodyPr wrap="square" lIns="0" tIns="0" rIns="0" bIns="0" rtlCol="0" anchor="ctr"/>
          <a:lstStyle/>
          <a:p>
            <a:pPr marL="0" indent="0" algn="ctr">
              <a:buNone/>
            </a:pPr>
            <a:r>
              <a:rPr lang="en-US" sz="2000" b="1" dirty="0">
                <a:solidFill>
                  <a:srgbClr val="E9C46A"/>
                </a:solidFill>
              </a:rPr>
              <a:t>01</a:t>
            </a:r>
            <a:endParaRPr lang="en-US" sz="2000" dirty="0"/>
          </a:p>
        </p:txBody>
      </p:sp>
      <p:sp>
        <p:nvSpPr>
          <p:cNvPr id="8" name="Text 6"/>
          <p:cNvSpPr/>
          <p:nvPr/>
        </p:nvSpPr>
        <p:spPr>
          <a:xfrm>
            <a:off x="1325880" y="868680"/>
            <a:ext cx="7223760" cy="731520"/>
          </a:xfrm>
          <a:prstGeom prst="rect">
            <a:avLst/>
          </a:prstGeom>
          <a:noFill/>
          <a:ln/>
        </p:spPr>
        <p:txBody>
          <a:bodyPr wrap="square" rtlCol="0" anchor="ctr"/>
          <a:lstStyle/>
          <a:p>
            <a:pPr marL="0" indent="0">
              <a:buNone/>
            </a:pPr>
            <a:r>
              <a:rPr lang="en-US" sz="1400" b="0" i="0" dirty="0">
                <a:solidFill>
                  <a:schemeClr val="bg2">
                    <a:lumMod val="25000"/>
                  </a:schemeClr>
                </a:solidFill>
                <a:effectLst/>
                <a:latin typeface="quote-cjk-patch"/>
              </a:rPr>
              <a:t>Perform </a:t>
            </a:r>
            <a:r>
              <a:rPr lang="en-US" sz="1400" b="1" i="0" dirty="0">
                <a:solidFill>
                  <a:schemeClr val="bg2">
                    <a:lumMod val="25000"/>
                  </a:schemeClr>
                </a:solidFill>
                <a:effectLst/>
                <a:latin typeface="quote-cjk-patch"/>
              </a:rPr>
              <a:t>descriptive analysis </a:t>
            </a:r>
            <a:r>
              <a:rPr lang="en-US" sz="1400" b="0" i="0" dirty="0">
                <a:solidFill>
                  <a:schemeClr val="bg2">
                    <a:lumMod val="25000"/>
                  </a:schemeClr>
                </a:solidFill>
                <a:effectLst/>
                <a:latin typeface="quote-cjk-patch"/>
              </a:rPr>
              <a:t>and visualizations of all key variables and external factors.</a:t>
            </a:r>
            <a:endParaRPr lang="en-US" sz="1400" dirty="0">
              <a:solidFill>
                <a:schemeClr val="bg2">
                  <a:lumMod val="25000"/>
                </a:schemeClr>
              </a:solidFill>
            </a:endParaRPr>
          </a:p>
        </p:txBody>
      </p:sp>
      <p:sp>
        <p:nvSpPr>
          <p:cNvPr id="9" name="Shape 7"/>
          <p:cNvSpPr/>
          <p:nvPr/>
        </p:nvSpPr>
        <p:spPr>
          <a:xfrm>
            <a:off x="356616" y="1861898"/>
            <a:ext cx="8421624" cy="767686"/>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356616" y="1874520"/>
            <a:ext cx="822960" cy="767686"/>
          </a:xfrm>
          <a:prstGeom prst="rect">
            <a:avLst/>
          </a:prstGeom>
          <a:solidFill>
            <a:srgbClr val="0D1B2A"/>
          </a:solidFill>
          <a:ln w="12700">
            <a:solidFill>
              <a:srgbClr val="0D1B2A"/>
            </a:solidFill>
            <a:prstDash val="solid"/>
          </a:ln>
        </p:spPr>
        <p:txBody>
          <a:bodyPr/>
          <a:lstStyle/>
          <a:p>
            <a:r>
              <a:rPr lang="en-US" dirty="0"/>
              <a:t>    </a:t>
            </a:r>
          </a:p>
          <a:p>
            <a:r>
              <a:rPr lang="en-US" b="1" dirty="0">
                <a:solidFill>
                  <a:schemeClr val="accent4">
                    <a:lumMod val="60000"/>
                    <a:lumOff val="40000"/>
                  </a:schemeClr>
                </a:solidFill>
              </a:rPr>
              <a:t>    </a:t>
            </a:r>
            <a:r>
              <a:rPr lang="en-US" sz="2000" b="1" dirty="0">
                <a:solidFill>
                  <a:schemeClr val="accent4">
                    <a:lumMod val="60000"/>
                    <a:lumOff val="40000"/>
                  </a:schemeClr>
                </a:solidFill>
              </a:rPr>
              <a:t>02</a:t>
            </a:r>
          </a:p>
          <a:p>
            <a:endParaRPr lang="en-US" sz="2000" dirty="0"/>
          </a:p>
        </p:txBody>
      </p:sp>
      <p:sp>
        <p:nvSpPr>
          <p:cNvPr id="11" name="Text 9"/>
          <p:cNvSpPr/>
          <p:nvPr/>
        </p:nvSpPr>
        <p:spPr>
          <a:xfrm>
            <a:off x="365760" y="1874520"/>
            <a:ext cx="822960" cy="822960"/>
          </a:xfrm>
          <a:prstGeom prst="rect">
            <a:avLst/>
          </a:prstGeom>
          <a:noFill/>
          <a:ln/>
        </p:spPr>
        <p:txBody>
          <a:bodyPr wrap="square" lIns="0" tIns="0" rIns="0" bIns="0" rtlCol="0" anchor="ctr"/>
          <a:lstStyle/>
          <a:p>
            <a:pPr marL="0" indent="0" algn="ctr">
              <a:buNone/>
            </a:pPr>
            <a:endParaRPr lang="en-US" sz="2000" dirty="0"/>
          </a:p>
        </p:txBody>
      </p:sp>
      <p:sp>
        <p:nvSpPr>
          <p:cNvPr id="12" name="Text 10"/>
          <p:cNvSpPr/>
          <p:nvPr/>
        </p:nvSpPr>
        <p:spPr>
          <a:xfrm>
            <a:off x="1389888" y="1898064"/>
            <a:ext cx="7223760" cy="731520"/>
          </a:xfrm>
          <a:prstGeom prst="rect">
            <a:avLst/>
          </a:prstGeom>
          <a:noFill/>
          <a:ln/>
        </p:spPr>
        <p:txBody>
          <a:bodyPr wrap="square" rtlCol="0" anchor="ctr"/>
          <a:lstStyle/>
          <a:p>
            <a:pPr marL="0" indent="0">
              <a:buNone/>
            </a:pPr>
            <a:r>
              <a:rPr lang="en-US" sz="1400" b="0" dirty="0">
                <a:solidFill>
                  <a:schemeClr val="bg2">
                    <a:lumMod val="25000"/>
                  </a:schemeClr>
                </a:solidFill>
                <a:effectLst/>
                <a:latin typeface="quote-cjk-patch"/>
              </a:rPr>
              <a:t>Quantify the relationship between service response time and customer satisfaction using </a:t>
            </a:r>
            <a:r>
              <a:rPr lang="en-US" sz="1400" b="1" dirty="0">
                <a:solidFill>
                  <a:schemeClr val="bg2">
                    <a:lumMod val="25000"/>
                  </a:schemeClr>
                </a:solidFill>
                <a:effectLst/>
                <a:latin typeface="quote-cjk-patch"/>
              </a:rPr>
              <a:t>correlation, regression</a:t>
            </a:r>
            <a:r>
              <a:rPr lang="en-US" sz="1400" b="0" dirty="0">
                <a:solidFill>
                  <a:schemeClr val="bg2">
                    <a:lumMod val="25000"/>
                  </a:schemeClr>
                </a:solidFill>
                <a:effectLst/>
                <a:latin typeface="quote-cjk-patch"/>
              </a:rPr>
              <a:t>, and </a:t>
            </a:r>
            <a:r>
              <a:rPr lang="en-US" sz="1400" b="1" dirty="0">
                <a:solidFill>
                  <a:schemeClr val="bg2">
                    <a:lumMod val="25000"/>
                  </a:schemeClr>
                </a:solidFill>
                <a:effectLst/>
                <a:latin typeface="quote-cjk-patch"/>
              </a:rPr>
              <a:t>ANOVA </a:t>
            </a:r>
            <a:r>
              <a:rPr lang="en-US" sz="1400" b="0" dirty="0">
                <a:solidFill>
                  <a:schemeClr val="bg2">
                    <a:lumMod val="25000"/>
                  </a:schemeClr>
                </a:solidFill>
                <a:effectLst/>
                <a:latin typeface="quote-cjk-patch"/>
              </a:rPr>
              <a:t>on High/Medium/Low </a:t>
            </a:r>
            <a:r>
              <a:rPr lang="en-US" sz="1400" b="1" dirty="0">
                <a:solidFill>
                  <a:schemeClr val="bg2">
                    <a:lumMod val="25000"/>
                  </a:schemeClr>
                </a:solidFill>
                <a:effectLst/>
                <a:latin typeface="quote-cjk-patch"/>
              </a:rPr>
              <a:t>timeliness groups</a:t>
            </a:r>
            <a:r>
              <a:rPr lang="en-US" sz="1400" b="0" dirty="0">
                <a:solidFill>
                  <a:schemeClr val="bg2">
                    <a:lumMod val="25000"/>
                  </a:schemeClr>
                </a:solidFill>
                <a:effectLst/>
                <a:latin typeface="quote-cjk-patch"/>
              </a:rPr>
              <a:t>.</a:t>
            </a:r>
            <a:endParaRPr lang="en-US" sz="1250" dirty="0">
              <a:solidFill>
                <a:schemeClr val="bg2">
                  <a:lumMod val="25000"/>
                </a:schemeClr>
              </a:solidFill>
            </a:endParaRPr>
          </a:p>
        </p:txBody>
      </p:sp>
      <p:sp>
        <p:nvSpPr>
          <p:cNvPr id="13" name="Shape 11"/>
          <p:cNvSpPr/>
          <p:nvPr/>
        </p:nvSpPr>
        <p:spPr>
          <a:xfrm>
            <a:off x="365760" y="2880360"/>
            <a:ext cx="8412480" cy="8229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365760" y="2880360"/>
            <a:ext cx="822960" cy="822960"/>
          </a:xfrm>
          <a:prstGeom prst="rect">
            <a:avLst/>
          </a:prstGeom>
          <a:solidFill>
            <a:srgbClr val="0D1B2A"/>
          </a:solidFill>
          <a:ln w="12700">
            <a:solidFill>
              <a:srgbClr val="0D1B2A"/>
            </a:solidFill>
            <a:prstDash val="solid"/>
          </a:ln>
        </p:spPr>
        <p:txBody>
          <a:bodyPr/>
          <a:lstStyle/>
          <a:p>
            <a:endParaRPr lang="en-US"/>
          </a:p>
        </p:txBody>
      </p:sp>
      <p:sp>
        <p:nvSpPr>
          <p:cNvPr id="15" name="Text 13"/>
          <p:cNvSpPr/>
          <p:nvPr/>
        </p:nvSpPr>
        <p:spPr>
          <a:xfrm>
            <a:off x="365760" y="2880360"/>
            <a:ext cx="822960" cy="822960"/>
          </a:xfrm>
          <a:prstGeom prst="rect">
            <a:avLst/>
          </a:prstGeom>
          <a:noFill/>
          <a:ln/>
        </p:spPr>
        <p:txBody>
          <a:bodyPr wrap="square" lIns="0" tIns="0" rIns="0" bIns="0" rtlCol="0" anchor="ctr"/>
          <a:lstStyle/>
          <a:p>
            <a:pPr marL="0" indent="0" algn="ctr">
              <a:buNone/>
            </a:pPr>
            <a:r>
              <a:rPr lang="en-US" sz="2000" b="1" dirty="0">
                <a:solidFill>
                  <a:srgbClr val="E9C46A"/>
                </a:solidFill>
              </a:rPr>
              <a:t>03</a:t>
            </a:r>
            <a:endParaRPr lang="en-US" sz="2000" dirty="0"/>
          </a:p>
        </p:txBody>
      </p:sp>
      <p:sp>
        <p:nvSpPr>
          <p:cNvPr id="16" name="Text 14"/>
          <p:cNvSpPr/>
          <p:nvPr/>
        </p:nvSpPr>
        <p:spPr>
          <a:xfrm>
            <a:off x="1325880" y="2926080"/>
            <a:ext cx="7223760" cy="731520"/>
          </a:xfrm>
          <a:prstGeom prst="rect">
            <a:avLst/>
          </a:prstGeom>
          <a:noFill/>
          <a:ln/>
        </p:spPr>
        <p:txBody>
          <a:bodyPr wrap="square" rtlCol="0" anchor="ctr"/>
          <a:lstStyle/>
          <a:p>
            <a:pPr marL="0" indent="0">
              <a:buNone/>
            </a:pPr>
            <a:r>
              <a:rPr lang="en-US" sz="1400" b="0" i="0" dirty="0">
                <a:solidFill>
                  <a:schemeClr val="bg2">
                    <a:lumMod val="25000"/>
                  </a:schemeClr>
                </a:solidFill>
                <a:effectLst/>
                <a:latin typeface="quote-cjk-patch"/>
              </a:rPr>
              <a:t>Assess the impact of external environmental and </a:t>
            </a:r>
            <a:r>
              <a:rPr lang="en-US" sz="1400" b="0" i="0" dirty="0" err="1">
                <a:solidFill>
                  <a:schemeClr val="bg2">
                    <a:lumMod val="25000"/>
                  </a:schemeClr>
                </a:solidFill>
                <a:effectLst/>
                <a:latin typeface="quote-cjk-patch"/>
              </a:rPr>
              <a:t>behavioural</a:t>
            </a:r>
            <a:r>
              <a:rPr lang="en-US" sz="1400" b="0" i="0" dirty="0">
                <a:solidFill>
                  <a:schemeClr val="bg2">
                    <a:lumMod val="25000"/>
                  </a:schemeClr>
                </a:solidFill>
                <a:effectLst/>
                <a:latin typeface="quote-cjk-patch"/>
              </a:rPr>
              <a:t> factors using </a:t>
            </a:r>
            <a:r>
              <a:rPr lang="en-US" sz="1400" b="1" i="0" dirty="0">
                <a:solidFill>
                  <a:schemeClr val="bg2">
                    <a:lumMod val="25000"/>
                  </a:schemeClr>
                </a:solidFill>
                <a:effectLst/>
                <a:latin typeface="quote-cjk-patch"/>
              </a:rPr>
              <a:t>t‑tests </a:t>
            </a:r>
            <a:r>
              <a:rPr lang="en-US" sz="1400" b="0" i="0" dirty="0">
                <a:solidFill>
                  <a:schemeClr val="bg2">
                    <a:lumMod val="25000"/>
                  </a:schemeClr>
                </a:solidFill>
                <a:effectLst/>
                <a:latin typeface="quote-cjk-patch"/>
              </a:rPr>
              <a:t>and </a:t>
            </a:r>
            <a:r>
              <a:rPr lang="en-US" sz="1400" b="1" i="0" dirty="0">
                <a:solidFill>
                  <a:schemeClr val="bg2">
                    <a:lumMod val="25000"/>
                  </a:schemeClr>
                </a:solidFill>
                <a:effectLst/>
                <a:latin typeface="quote-cjk-patch"/>
              </a:rPr>
              <a:t>ANOVA</a:t>
            </a:r>
            <a:r>
              <a:rPr lang="en-US" sz="1400" b="0" i="0" dirty="0">
                <a:solidFill>
                  <a:schemeClr val="bg2">
                    <a:lumMod val="25000"/>
                  </a:schemeClr>
                </a:solidFill>
                <a:effectLst/>
                <a:latin typeface="quote-cjk-patch"/>
              </a:rPr>
              <a:t>, and validate robustness with a </a:t>
            </a:r>
            <a:r>
              <a:rPr lang="en-US" sz="1400" b="1" i="0" dirty="0">
                <a:solidFill>
                  <a:schemeClr val="bg2">
                    <a:lumMod val="25000"/>
                  </a:schemeClr>
                </a:solidFill>
                <a:effectLst/>
                <a:latin typeface="quote-cjk-patch"/>
              </a:rPr>
              <a:t>multiple regression model </a:t>
            </a:r>
            <a:r>
              <a:rPr lang="en-US" sz="1400" b="0" i="0" dirty="0">
                <a:solidFill>
                  <a:schemeClr val="bg2">
                    <a:lumMod val="25000"/>
                  </a:schemeClr>
                </a:solidFill>
                <a:effectLst/>
                <a:latin typeface="quote-cjk-patch"/>
              </a:rPr>
              <a:t>that controls for all external predictors.</a:t>
            </a:r>
            <a:endParaRPr lang="en-US" sz="1250" dirty="0">
              <a:solidFill>
                <a:schemeClr val="bg2">
                  <a:lumMod val="25000"/>
                </a:schemeClr>
              </a:solidFill>
            </a:endParaRPr>
          </a:p>
        </p:txBody>
      </p:sp>
      <p:sp>
        <p:nvSpPr>
          <p:cNvPr id="17" name="Shape 15"/>
          <p:cNvSpPr/>
          <p:nvPr/>
        </p:nvSpPr>
        <p:spPr>
          <a:xfrm>
            <a:off x="365760" y="3886200"/>
            <a:ext cx="8412480" cy="8229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8" name="Shape 16"/>
          <p:cNvSpPr/>
          <p:nvPr/>
        </p:nvSpPr>
        <p:spPr>
          <a:xfrm>
            <a:off x="365760" y="3886200"/>
            <a:ext cx="822960" cy="822960"/>
          </a:xfrm>
          <a:prstGeom prst="rect">
            <a:avLst/>
          </a:prstGeom>
          <a:solidFill>
            <a:srgbClr val="0D1B2A"/>
          </a:solidFill>
          <a:ln w="12700">
            <a:solidFill>
              <a:srgbClr val="0D1B2A"/>
            </a:solidFill>
            <a:prstDash val="solid"/>
          </a:ln>
        </p:spPr>
        <p:txBody>
          <a:bodyPr/>
          <a:lstStyle/>
          <a:p>
            <a:endParaRPr lang="en-US"/>
          </a:p>
        </p:txBody>
      </p:sp>
      <p:sp>
        <p:nvSpPr>
          <p:cNvPr id="19" name="Text 17"/>
          <p:cNvSpPr/>
          <p:nvPr/>
        </p:nvSpPr>
        <p:spPr>
          <a:xfrm>
            <a:off x="365760" y="3886200"/>
            <a:ext cx="822960" cy="822960"/>
          </a:xfrm>
          <a:prstGeom prst="rect">
            <a:avLst/>
          </a:prstGeom>
          <a:noFill/>
          <a:ln/>
        </p:spPr>
        <p:txBody>
          <a:bodyPr wrap="square" lIns="0" tIns="0" rIns="0" bIns="0" rtlCol="0" anchor="ctr"/>
          <a:lstStyle/>
          <a:p>
            <a:pPr marL="0" indent="0" algn="ctr">
              <a:buNone/>
            </a:pPr>
            <a:r>
              <a:rPr lang="en-US" sz="2000" b="1" dirty="0">
                <a:solidFill>
                  <a:srgbClr val="E9C46A"/>
                </a:solidFill>
              </a:rPr>
              <a:t>04</a:t>
            </a:r>
            <a:endParaRPr lang="en-US" sz="2000" dirty="0"/>
          </a:p>
        </p:txBody>
      </p:sp>
      <p:sp>
        <p:nvSpPr>
          <p:cNvPr id="20" name="Text 18"/>
          <p:cNvSpPr/>
          <p:nvPr/>
        </p:nvSpPr>
        <p:spPr>
          <a:xfrm>
            <a:off x="1325880" y="3931920"/>
            <a:ext cx="7223760" cy="731520"/>
          </a:xfrm>
          <a:prstGeom prst="rect">
            <a:avLst/>
          </a:prstGeom>
          <a:noFill/>
          <a:ln/>
        </p:spPr>
        <p:txBody>
          <a:bodyPr wrap="square" rtlCol="0" anchor="ctr"/>
          <a:lstStyle/>
          <a:p>
            <a:pPr marL="0" indent="0">
              <a:buNone/>
            </a:pPr>
            <a:r>
              <a:rPr lang="en-US" sz="1400" b="0" dirty="0">
                <a:solidFill>
                  <a:schemeClr val="bg2">
                    <a:lumMod val="25000"/>
                  </a:schemeClr>
                </a:solidFill>
                <a:effectLst/>
                <a:latin typeface="quote-cjk-patch"/>
              </a:rPr>
              <a:t>Test and decide the hypothesis</a:t>
            </a:r>
            <a:r>
              <a:rPr lang="en-US" sz="1400" b="1" dirty="0">
                <a:solidFill>
                  <a:schemeClr val="bg2">
                    <a:lumMod val="25000"/>
                  </a:schemeClr>
                </a:solidFill>
                <a:effectLst/>
                <a:latin typeface="quote-cjk-patch"/>
              </a:rPr>
              <a:t>, “Customers who receive timely updates feel more confident about the service.”</a:t>
            </a:r>
            <a:endParaRPr lang="en-US" sz="1250" b="1" dirty="0">
              <a:solidFill>
                <a:schemeClr val="bg2">
                  <a:lumMod val="25000"/>
                </a:schemeClr>
              </a:solidFill>
            </a:endParaRPr>
          </a:p>
        </p:txBody>
      </p:sp>
      <p:sp>
        <p:nvSpPr>
          <p:cNvPr id="21" name="Shape 19"/>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22" name="Text 20"/>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rgbClr val="0070C0"/>
          </a:solidFill>
          <a:ln w="12700">
            <a:solidFill>
              <a:srgbClr val="E76F51"/>
            </a:solidFill>
            <a:prstDash val="solid"/>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buNone/>
            </a:pPr>
            <a:r>
              <a:rPr lang="en-US" sz="2000" b="1" dirty="0">
                <a:solidFill>
                  <a:srgbClr val="FFFFFF"/>
                </a:solidFill>
              </a:rPr>
              <a:t>Data Collection</a:t>
            </a:r>
            <a:endParaRPr lang="en-US" sz="2000" dirty="0"/>
          </a:p>
        </p:txBody>
      </p:sp>
      <p:sp>
        <p:nvSpPr>
          <p:cNvPr id="5" name="Shape 3"/>
          <p:cNvSpPr/>
          <p:nvPr/>
        </p:nvSpPr>
        <p:spPr>
          <a:xfrm>
            <a:off x="320040" y="822960"/>
            <a:ext cx="1920240" cy="109728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320040" y="868680"/>
            <a:ext cx="1920240" cy="640080"/>
          </a:xfrm>
          <a:prstGeom prst="rect">
            <a:avLst/>
          </a:prstGeom>
          <a:noFill/>
          <a:ln/>
        </p:spPr>
        <p:txBody>
          <a:bodyPr wrap="square" rtlCol="0" anchor="ctr"/>
          <a:lstStyle/>
          <a:p>
            <a:pPr marL="0" indent="0" algn="ctr">
              <a:buNone/>
            </a:pPr>
            <a:r>
              <a:rPr lang="en-US" sz="3000" b="1" dirty="0">
                <a:solidFill>
                  <a:srgbClr val="E9C46A"/>
                </a:solidFill>
              </a:rPr>
              <a:t>3000</a:t>
            </a:r>
            <a:endParaRPr lang="en-US" sz="3000" dirty="0"/>
          </a:p>
        </p:txBody>
      </p:sp>
      <p:sp>
        <p:nvSpPr>
          <p:cNvPr id="7" name="Text 5"/>
          <p:cNvSpPr/>
          <p:nvPr/>
        </p:nvSpPr>
        <p:spPr>
          <a:xfrm>
            <a:off x="320040" y="1463040"/>
            <a:ext cx="1920240" cy="411480"/>
          </a:xfrm>
          <a:prstGeom prst="rect">
            <a:avLst/>
          </a:prstGeom>
          <a:noFill/>
          <a:ln/>
        </p:spPr>
        <p:txBody>
          <a:bodyPr wrap="square" rtlCol="0" anchor="ctr"/>
          <a:lstStyle/>
          <a:p>
            <a:pPr marL="0" indent="0" algn="ctr">
              <a:buNone/>
            </a:pPr>
            <a:r>
              <a:rPr lang="en-US" sz="1000" dirty="0">
                <a:solidFill>
                  <a:srgbClr val="94A3B8"/>
                </a:solidFill>
              </a:rPr>
              <a:t>Observations</a:t>
            </a:r>
            <a:endParaRPr lang="en-US" sz="1000" dirty="0"/>
          </a:p>
        </p:txBody>
      </p:sp>
      <p:sp>
        <p:nvSpPr>
          <p:cNvPr id="8" name="Shape 6"/>
          <p:cNvSpPr/>
          <p:nvPr/>
        </p:nvSpPr>
        <p:spPr>
          <a:xfrm>
            <a:off x="2468880" y="822960"/>
            <a:ext cx="1920240" cy="109728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n-US"/>
          </a:p>
        </p:txBody>
      </p:sp>
      <p:sp>
        <p:nvSpPr>
          <p:cNvPr id="9" name="Text 7"/>
          <p:cNvSpPr/>
          <p:nvPr/>
        </p:nvSpPr>
        <p:spPr>
          <a:xfrm>
            <a:off x="2468880" y="868680"/>
            <a:ext cx="1920240" cy="640080"/>
          </a:xfrm>
          <a:prstGeom prst="rect">
            <a:avLst/>
          </a:prstGeom>
          <a:noFill/>
          <a:ln/>
        </p:spPr>
        <p:txBody>
          <a:bodyPr wrap="square" rtlCol="0" anchor="ctr"/>
          <a:lstStyle/>
          <a:p>
            <a:pPr marL="0" indent="0" algn="ctr">
              <a:buNone/>
            </a:pPr>
            <a:r>
              <a:rPr lang="en-US" sz="3000" b="1" dirty="0">
                <a:solidFill>
                  <a:srgbClr val="E9C46A"/>
                </a:solidFill>
              </a:rPr>
              <a:t>14</a:t>
            </a:r>
            <a:endParaRPr lang="en-US" sz="3000" dirty="0"/>
          </a:p>
        </p:txBody>
      </p:sp>
      <p:sp>
        <p:nvSpPr>
          <p:cNvPr id="10" name="Text 8"/>
          <p:cNvSpPr/>
          <p:nvPr/>
        </p:nvSpPr>
        <p:spPr>
          <a:xfrm>
            <a:off x="2468880" y="1463040"/>
            <a:ext cx="1920240" cy="411480"/>
          </a:xfrm>
          <a:prstGeom prst="rect">
            <a:avLst/>
          </a:prstGeom>
          <a:noFill/>
          <a:ln/>
        </p:spPr>
        <p:txBody>
          <a:bodyPr wrap="square" rtlCol="0" anchor="ctr"/>
          <a:lstStyle/>
          <a:p>
            <a:pPr marL="0" indent="0" algn="ctr">
              <a:buNone/>
            </a:pPr>
            <a:r>
              <a:rPr lang="en-US" sz="1000" dirty="0">
                <a:solidFill>
                  <a:srgbClr val="94A3B8"/>
                </a:solidFill>
              </a:rPr>
              <a:t>Total Columns</a:t>
            </a:r>
            <a:endParaRPr lang="en-US" sz="1000" dirty="0"/>
          </a:p>
        </p:txBody>
      </p:sp>
      <p:sp>
        <p:nvSpPr>
          <p:cNvPr id="11" name="Shape 9"/>
          <p:cNvSpPr/>
          <p:nvPr/>
        </p:nvSpPr>
        <p:spPr>
          <a:xfrm>
            <a:off x="4617720" y="822960"/>
            <a:ext cx="1920240" cy="109728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n-US"/>
          </a:p>
        </p:txBody>
      </p:sp>
      <p:sp>
        <p:nvSpPr>
          <p:cNvPr id="12" name="Text 10"/>
          <p:cNvSpPr/>
          <p:nvPr/>
        </p:nvSpPr>
        <p:spPr>
          <a:xfrm>
            <a:off x="4617720" y="868680"/>
            <a:ext cx="1920240" cy="640080"/>
          </a:xfrm>
          <a:prstGeom prst="rect">
            <a:avLst/>
          </a:prstGeom>
          <a:noFill/>
          <a:ln/>
        </p:spPr>
        <p:txBody>
          <a:bodyPr wrap="square" rtlCol="0" anchor="ctr"/>
          <a:lstStyle/>
          <a:p>
            <a:pPr marL="0" indent="0" algn="ctr">
              <a:buNone/>
            </a:pPr>
            <a:r>
              <a:rPr lang="en-US" sz="3000" b="1" dirty="0">
                <a:solidFill>
                  <a:srgbClr val="E9C46A"/>
                </a:solidFill>
              </a:rPr>
              <a:t>1</a:t>
            </a:r>
            <a:endParaRPr lang="en-US" sz="3000" dirty="0"/>
          </a:p>
        </p:txBody>
      </p:sp>
      <p:sp>
        <p:nvSpPr>
          <p:cNvPr id="13" name="Text 11"/>
          <p:cNvSpPr/>
          <p:nvPr/>
        </p:nvSpPr>
        <p:spPr>
          <a:xfrm>
            <a:off x="4617720" y="1463040"/>
            <a:ext cx="1920240" cy="411480"/>
          </a:xfrm>
          <a:prstGeom prst="rect">
            <a:avLst/>
          </a:prstGeom>
          <a:noFill/>
          <a:ln/>
        </p:spPr>
        <p:txBody>
          <a:bodyPr wrap="square" rtlCol="0" anchor="ctr"/>
          <a:lstStyle/>
          <a:p>
            <a:pPr marL="0" indent="0" algn="ctr">
              <a:buNone/>
            </a:pPr>
            <a:r>
              <a:rPr lang="en-US" sz="1000" dirty="0">
                <a:solidFill>
                  <a:srgbClr val="94A3B8"/>
                </a:solidFill>
              </a:rPr>
              <a:t>Target Variable</a:t>
            </a:r>
            <a:endParaRPr lang="en-US" sz="1000" dirty="0"/>
          </a:p>
        </p:txBody>
      </p:sp>
      <p:sp>
        <p:nvSpPr>
          <p:cNvPr id="14" name="Shape 12"/>
          <p:cNvSpPr/>
          <p:nvPr/>
        </p:nvSpPr>
        <p:spPr>
          <a:xfrm>
            <a:off x="6766560" y="822960"/>
            <a:ext cx="1920240" cy="109728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n-US"/>
          </a:p>
        </p:txBody>
      </p:sp>
      <p:sp>
        <p:nvSpPr>
          <p:cNvPr id="15" name="Text 13"/>
          <p:cNvSpPr/>
          <p:nvPr/>
        </p:nvSpPr>
        <p:spPr>
          <a:xfrm>
            <a:off x="6766560" y="868680"/>
            <a:ext cx="1920240" cy="640080"/>
          </a:xfrm>
          <a:prstGeom prst="rect">
            <a:avLst/>
          </a:prstGeom>
          <a:noFill/>
          <a:ln/>
        </p:spPr>
        <p:txBody>
          <a:bodyPr wrap="square" rtlCol="0" anchor="ctr"/>
          <a:lstStyle/>
          <a:p>
            <a:pPr marL="0" indent="0" algn="ctr">
              <a:buNone/>
            </a:pPr>
            <a:r>
              <a:rPr lang="en-US" sz="3000" b="1" dirty="0">
                <a:solidFill>
                  <a:srgbClr val="E9C46A"/>
                </a:solidFill>
              </a:rPr>
              <a:t>0-100</a:t>
            </a:r>
            <a:endParaRPr lang="en-US" sz="3000" dirty="0"/>
          </a:p>
        </p:txBody>
      </p:sp>
      <p:sp>
        <p:nvSpPr>
          <p:cNvPr id="16" name="Text 14"/>
          <p:cNvSpPr/>
          <p:nvPr/>
        </p:nvSpPr>
        <p:spPr>
          <a:xfrm>
            <a:off x="6766560" y="1463040"/>
            <a:ext cx="1920240" cy="411480"/>
          </a:xfrm>
          <a:prstGeom prst="rect">
            <a:avLst/>
          </a:prstGeom>
          <a:noFill/>
          <a:ln/>
        </p:spPr>
        <p:txBody>
          <a:bodyPr wrap="square" rtlCol="0" anchor="ctr"/>
          <a:lstStyle/>
          <a:p>
            <a:pPr marL="0" indent="0" algn="ctr">
              <a:buNone/>
            </a:pPr>
            <a:r>
              <a:rPr lang="en-US" sz="1000" dirty="0">
                <a:solidFill>
                  <a:srgbClr val="94A3B8"/>
                </a:solidFill>
              </a:rPr>
              <a:t>Quality Score Scale</a:t>
            </a:r>
            <a:endParaRPr lang="en-US" sz="1000" dirty="0"/>
          </a:p>
        </p:txBody>
      </p:sp>
      <p:sp>
        <p:nvSpPr>
          <p:cNvPr id="17" name="Text 15"/>
          <p:cNvSpPr/>
          <p:nvPr/>
        </p:nvSpPr>
        <p:spPr>
          <a:xfrm>
            <a:off x="320040" y="2057400"/>
            <a:ext cx="3657600" cy="347472"/>
          </a:xfrm>
          <a:prstGeom prst="rect">
            <a:avLst/>
          </a:prstGeom>
          <a:noFill/>
          <a:ln/>
        </p:spPr>
        <p:txBody>
          <a:bodyPr wrap="square" rtlCol="0" anchor="ctr"/>
          <a:lstStyle/>
          <a:p>
            <a:pPr marL="0" indent="0">
              <a:buNone/>
            </a:pPr>
            <a:r>
              <a:rPr lang="en-US" sz="1300" b="1" dirty="0">
                <a:solidFill>
                  <a:srgbClr val="005F73"/>
                </a:solidFill>
              </a:rPr>
              <a:t>Key Variables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845704587"/>
              </p:ext>
            </p:extLst>
          </p:nvPr>
        </p:nvGraphicFramePr>
        <p:xfrm>
          <a:off x="330412" y="2352675"/>
          <a:ext cx="4879658" cy="2447925"/>
        </p:xfrm>
        <a:graphic>
          <a:graphicData uri="http://schemas.openxmlformats.org/drawingml/2006/table">
            <a:tbl>
              <a:tblPr/>
              <a:tblGrid>
                <a:gridCol w="1587818">
                  <a:extLst>
                    <a:ext uri="{9D8B030D-6E8A-4147-A177-3AD203B41FA5}">
                      <a16:colId xmlns:a16="http://schemas.microsoft.com/office/drawing/2014/main" val="20000"/>
                    </a:ext>
                  </a:extLst>
                </a:gridCol>
                <a:gridCol w="1284937">
                  <a:extLst>
                    <a:ext uri="{9D8B030D-6E8A-4147-A177-3AD203B41FA5}">
                      <a16:colId xmlns:a16="http://schemas.microsoft.com/office/drawing/2014/main" val="20001"/>
                    </a:ext>
                  </a:extLst>
                </a:gridCol>
                <a:gridCol w="2006903">
                  <a:extLst>
                    <a:ext uri="{9D8B030D-6E8A-4147-A177-3AD203B41FA5}">
                      <a16:colId xmlns:a16="http://schemas.microsoft.com/office/drawing/2014/main" val="20002"/>
                    </a:ext>
                  </a:extLst>
                </a:gridCol>
              </a:tblGrid>
              <a:tr h="302895">
                <a:tc>
                  <a:txBody>
                    <a:bodyPr/>
                    <a:lstStyle/>
                    <a:p>
                      <a:pPr marL="0" indent="0" algn="l">
                        <a:buNone/>
                      </a:pPr>
                      <a:r>
                        <a:rPr lang="en-US" sz="1000" b="1" dirty="0">
                          <a:solidFill>
                            <a:srgbClr val="FFFFFF"/>
                          </a:solidFill>
                        </a:rPr>
                        <a:t>Variable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5F73"/>
                    </a:solidFill>
                  </a:tcPr>
                </a:tc>
                <a:tc>
                  <a:txBody>
                    <a:bodyPr/>
                    <a:lstStyle/>
                    <a:p>
                      <a:pPr marL="0" indent="0" algn="l">
                        <a:buNone/>
                      </a:pPr>
                      <a:r>
                        <a:rPr lang="en-US" sz="1000" b="1" dirty="0">
                          <a:solidFill>
                            <a:srgbClr val="FFFFFF"/>
                          </a:solidFill>
                        </a:rPr>
                        <a:t>Type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5F73"/>
                    </a:solidFill>
                  </a:tcPr>
                </a:tc>
                <a:tc>
                  <a:txBody>
                    <a:bodyPr/>
                    <a:lstStyle/>
                    <a:p>
                      <a:pPr marL="0" indent="0" algn="l">
                        <a:buNone/>
                      </a:pPr>
                      <a:r>
                        <a:rPr lang="en-US" sz="1000" b="1" dirty="0">
                          <a:solidFill>
                            <a:srgbClr val="FFFFFF"/>
                          </a:solidFill>
                        </a:rPr>
                        <a:t>Role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5F73"/>
                    </a:solidFill>
                  </a:tcPr>
                </a:tc>
                <a:extLst>
                  <a:ext uri="{0D108BD9-81ED-4DB2-BD59-A6C34878D82A}">
                    <a16:rowId xmlns:a16="http://schemas.microsoft.com/office/drawing/2014/main" val="10000"/>
                  </a:ext>
                </a:extLst>
              </a:tr>
              <a:tr h="3028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err="1">
                          <a:solidFill>
                            <a:schemeClr val="bg2">
                              <a:lumMod val="25000"/>
                            </a:schemeClr>
                          </a:solidFill>
                        </a:rPr>
                        <a:t>noice</a:t>
                      </a:r>
                      <a:r>
                        <a:rPr lang="en-US" sz="1050" dirty="0">
                          <a:solidFill>
                            <a:schemeClr val="bg2">
                              <a:lumMod val="25000"/>
                            </a:schemeClr>
                          </a:solidFill>
                        </a:rPr>
                        <a:t> level </a:t>
                      </a:r>
                      <a:r>
                        <a:rPr lang="en-US" sz="1050" dirty="0" err="1">
                          <a:solidFill>
                            <a:schemeClr val="bg2">
                              <a:lumMod val="25000"/>
                            </a:schemeClr>
                          </a:solidFill>
                        </a:rPr>
                        <a:t>db</a:t>
                      </a:r>
                      <a:endParaRPr lang="en-US" sz="1050" dirty="0">
                        <a:solidFill>
                          <a:schemeClr val="bg2">
                            <a:lumMod val="25000"/>
                          </a:schemeClr>
                        </a:solidFill>
                      </a:endParaRPr>
                    </a:p>
                    <a:p>
                      <a:pPr marL="0" indent="0" algn="l">
                        <a:buNone/>
                      </a:pPr>
                      <a:endParaRPr lang="en-US" sz="500" dirty="0">
                        <a:solidFill>
                          <a:schemeClr val="bg2">
                            <a:lumMod val="25000"/>
                          </a:schemeClr>
                        </a:solidFill>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000000"/>
                          </a:solidFill>
                        </a:rPr>
                        <a:t>Continuous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000000"/>
                          </a:solidFill>
                        </a:rPr>
                        <a:t>Independent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02895">
                <a:tc>
                  <a:txBody>
                    <a:bodyPr/>
                    <a:lstStyle/>
                    <a:p>
                      <a:pPr marL="0" indent="0" algn="l">
                        <a:buNone/>
                      </a:pPr>
                      <a:r>
                        <a:rPr lang="en-US" sz="1050" dirty="0">
                          <a:solidFill>
                            <a:schemeClr val="bg2">
                              <a:lumMod val="25000"/>
                            </a:schemeClr>
                          </a:solidFill>
                        </a:rPr>
                        <a:t>service request count</a:t>
                      </a:r>
                      <a:endParaRPr lang="en-US" sz="1100" dirty="0">
                        <a:solidFill>
                          <a:schemeClr val="bg2">
                            <a:lumMod val="25000"/>
                          </a:schemeClr>
                        </a:solidFill>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t>Continuous</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t>Independent</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3154592074"/>
                  </a:ext>
                </a:extLst>
              </a:tr>
              <a:tr h="302895">
                <a:tc>
                  <a:txBody>
                    <a:bodyPr/>
                    <a:lstStyle/>
                    <a:p>
                      <a:pPr marL="0" indent="0" algn="l">
                        <a:buNone/>
                      </a:pPr>
                      <a:r>
                        <a:rPr lang="en-US" sz="1000" b="0" i="0" kern="1200" dirty="0">
                          <a:solidFill>
                            <a:schemeClr val="bg2">
                              <a:lumMod val="25000"/>
                            </a:schemeClr>
                          </a:solidFill>
                          <a:effectLst/>
                          <a:latin typeface="+mn-lt"/>
                          <a:ea typeface="+mn-ea"/>
                          <a:cs typeface="+mn-cs"/>
                        </a:rPr>
                        <a:t>timeliness group</a:t>
                      </a:r>
                      <a:endParaRPr lang="en-US" sz="400" dirty="0">
                        <a:solidFill>
                          <a:schemeClr val="bg2">
                            <a:lumMod val="25000"/>
                          </a:schemeClr>
                        </a:solidFill>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t>Categorical</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000000"/>
                          </a:solidFill>
                        </a:rPr>
                        <a:t>Independent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02895">
                <a:tc>
                  <a:txBody>
                    <a:bodyPr/>
                    <a:lstStyle/>
                    <a:p>
                      <a:pPr marL="0" indent="0" algn="l">
                        <a:buNone/>
                      </a:pPr>
                      <a:r>
                        <a:rPr lang="en-US" sz="1000" dirty="0"/>
                        <a:t>door opened</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t>Categorical(Binary)</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000000"/>
                          </a:solidFill>
                        </a:rPr>
                        <a:t>Independent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02895">
                <a:tc>
                  <a:txBody>
                    <a:bodyPr/>
                    <a:lstStyle/>
                    <a:p>
                      <a:pPr marL="0" indent="0" algn="l">
                        <a:buNone/>
                      </a:pPr>
                      <a:r>
                        <a:rPr lang="en-US" sz="1000" dirty="0">
                          <a:solidFill>
                            <a:srgbClr val="000000"/>
                          </a:solidFill>
                        </a:rPr>
                        <a:t>motion detected</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000000"/>
                          </a:solidFill>
                        </a:rPr>
                        <a:t>Categorical(Binary)</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dirty="0">
                          <a:solidFill>
                            <a:srgbClr val="000000"/>
                          </a:solidFill>
                        </a:rPr>
                        <a:t>Independent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02895">
                <a:tc>
                  <a:txBody>
                    <a:bodyPr/>
                    <a:lstStyle/>
                    <a:p>
                      <a:pPr marL="0" indent="0" algn="l">
                        <a:buNone/>
                      </a:pPr>
                      <a:r>
                        <a:rPr lang="en-US" sz="1000" b="1" i="0" kern="1200" dirty="0">
                          <a:solidFill>
                            <a:schemeClr val="bg2">
                              <a:lumMod val="25000"/>
                            </a:schemeClr>
                          </a:solidFill>
                          <a:effectLst/>
                          <a:latin typeface="+mn-lt"/>
                          <a:ea typeface="+mn-ea"/>
                          <a:cs typeface="+mn-cs"/>
                        </a:rPr>
                        <a:t>service response time min</a:t>
                      </a:r>
                      <a:endParaRPr lang="en-US" sz="400" b="1" dirty="0">
                        <a:solidFill>
                          <a:schemeClr val="bg2">
                            <a:lumMod val="25000"/>
                          </a:schemeClr>
                        </a:solidFill>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b="1" dirty="0">
                          <a:solidFill>
                            <a:srgbClr val="000000"/>
                          </a:solidFill>
                        </a:rPr>
                        <a:t>Continuous</a:t>
                      </a:r>
                      <a:endParaRPr lang="en-US" sz="1000" b="1"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b="1" dirty="0">
                          <a:solidFill>
                            <a:srgbClr val="000000"/>
                          </a:solidFill>
                        </a:rPr>
                        <a:t>Main Independent (key)</a:t>
                      </a:r>
                      <a:endParaRPr lang="en-US" sz="1000" b="1"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302895">
                <a:tc>
                  <a:txBody>
                    <a:bodyPr/>
                    <a:lstStyle/>
                    <a:p>
                      <a:pPr marL="0" indent="0" algn="l">
                        <a:buNone/>
                      </a:pPr>
                      <a:r>
                        <a:rPr lang="en-US" sz="1000" b="1" dirty="0">
                          <a:solidFill>
                            <a:srgbClr val="000000"/>
                          </a:solidFill>
                        </a:rPr>
                        <a:t>service quality score</a:t>
                      </a:r>
                      <a:endParaRPr lang="en-US" sz="1000" b="1"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b="1" dirty="0">
                          <a:solidFill>
                            <a:srgbClr val="000000"/>
                          </a:solidFill>
                        </a:rPr>
                        <a:t>Continuous</a:t>
                      </a:r>
                      <a:endParaRPr lang="en-US" sz="1000" b="1"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b="1" dirty="0">
                          <a:solidFill>
                            <a:srgbClr val="000000"/>
                          </a:solidFill>
                        </a:rPr>
                        <a:t>Dependent (target)</a:t>
                      </a:r>
                      <a:endParaRPr lang="en-US" sz="1000" b="1"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Shape 16"/>
          <p:cNvSpPr/>
          <p:nvPr/>
        </p:nvSpPr>
        <p:spPr>
          <a:xfrm>
            <a:off x="5841788" y="2057400"/>
            <a:ext cx="2890732" cy="2697480"/>
          </a:xfrm>
          <a:prstGeom prst="rect">
            <a:avLst/>
          </a:prstGeom>
          <a:solidFill>
            <a:srgbClr val="FFFF00">
              <a:alpha val="12000"/>
            </a:srgbClr>
          </a:solidFill>
          <a:ln w="12700">
            <a:solidFill>
              <a:srgbClr val="0A9396"/>
            </a:solidFill>
            <a:prstDash val="solid"/>
          </a:ln>
        </p:spPr>
        <p:txBody>
          <a:bodyPr/>
          <a:lstStyle/>
          <a:p>
            <a:endParaRPr lang="en-US" dirty="0"/>
          </a:p>
        </p:txBody>
      </p:sp>
      <p:sp>
        <p:nvSpPr>
          <p:cNvPr id="20" name="Text 17"/>
          <p:cNvSpPr/>
          <p:nvPr/>
        </p:nvSpPr>
        <p:spPr>
          <a:xfrm>
            <a:off x="5989320" y="2194560"/>
            <a:ext cx="2743200" cy="347472"/>
          </a:xfrm>
          <a:prstGeom prst="rect">
            <a:avLst/>
          </a:prstGeom>
          <a:noFill/>
          <a:ln/>
        </p:spPr>
        <p:txBody>
          <a:bodyPr wrap="square" rtlCol="0" anchor="ctr"/>
          <a:lstStyle/>
          <a:p>
            <a:pPr marL="0" indent="0">
              <a:buNone/>
            </a:pPr>
            <a:endParaRPr lang="en-US" sz="1300" b="1" dirty="0">
              <a:solidFill>
                <a:srgbClr val="005F73"/>
              </a:solidFill>
            </a:endParaRPr>
          </a:p>
          <a:p>
            <a:pPr marL="0" indent="0">
              <a:buNone/>
            </a:pPr>
            <a:r>
              <a:rPr lang="en-US" sz="1300" b="1" dirty="0">
                <a:solidFill>
                  <a:srgbClr val="005F73"/>
                </a:solidFill>
              </a:rPr>
              <a:t>Data Source</a:t>
            </a:r>
            <a:endParaRPr lang="en-US" sz="1300" dirty="0"/>
          </a:p>
        </p:txBody>
      </p:sp>
      <p:sp>
        <p:nvSpPr>
          <p:cNvPr id="21" name="Text 18"/>
          <p:cNvSpPr/>
          <p:nvPr/>
        </p:nvSpPr>
        <p:spPr>
          <a:xfrm>
            <a:off x="5989320" y="2606040"/>
            <a:ext cx="2697480" cy="2011680"/>
          </a:xfrm>
          <a:prstGeom prst="rect">
            <a:avLst/>
          </a:prstGeom>
          <a:noFill/>
          <a:ln/>
        </p:spPr>
        <p:txBody>
          <a:bodyPr wrap="square" rtlCol="0" anchor="t"/>
          <a:lstStyle/>
          <a:p>
            <a:pPr marL="0" indent="0">
              <a:buNone/>
            </a:pPr>
            <a:endParaRPr lang="en-US" sz="1050" b="1" dirty="0">
              <a:solidFill>
                <a:srgbClr val="1E293B"/>
              </a:solidFill>
            </a:endParaRPr>
          </a:p>
          <a:p>
            <a:pPr marL="0" indent="0">
              <a:buNone/>
            </a:pPr>
            <a:r>
              <a:rPr lang="en-US" sz="1050" b="1" dirty="0">
                <a:solidFill>
                  <a:srgbClr val="1E293B"/>
                </a:solidFill>
              </a:rPr>
              <a:t>Source ( </a:t>
            </a:r>
            <a:r>
              <a:rPr lang="en-US" sz="1050" b="1" dirty="0">
                <a:effectLst/>
                <a:latin typeface="quote-cjk-patch"/>
              </a:rPr>
              <a:t>Kaggle ) </a:t>
            </a:r>
            <a:r>
              <a:rPr lang="en-US" sz="1050" b="1" dirty="0">
                <a:solidFill>
                  <a:srgbClr val="1E293B"/>
                </a:solidFill>
              </a:rPr>
              <a:t>: </a:t>
            </a:r>
            <a:r>
              <a:rPr lang="en-US" sz="1050" dirty="0">
                <a:effectLst/>
                <a:latin typeface="quote-cjk-patch"/>
              </a:rPr>
              <a:t>Accommodation Service Quality &amp; Sensor Dataset.</a:t>
            </a:r>
          </a:p>
          <a:p>
            <a:pPr marL="0" indent="0">
              <a:buNone/>
            </a:pPr>
            <a:r>
              <a:rPr lang="en-US" sz="1050" dirty="0">
                <a:solidFill>
                  <a:srgbClr val="1E293B"/>
                </a:solidFill>
              </a:rPr>
              <a:t>
</a:t>
            </a:r>
            <a:r>
              <a:rPr lang="en-US" sz="1050" b="1" dirty="0">
                <a:solidFill>
                  <a:srgbClr val="1E293B"/>
                </a:solidFill>
              </a:rPr>
              <a:t>Type:  </a:t>
            </a:r>
            <a:r>
              <a:rPr lang="en-US" sz="1050" dirty="0">
                <a:solidFill>
                  <a:srgbClr val="1E293B"/>
                </a:solidFill>
              </a:rPr>
              <a:t>Secondary dataset</a:t>
            </a:r>
          </a:p>
          <a:p>
            <a:pPr marL="0" indent="0">
              <a:buNone/>
            </a:pPr>
            <a:r>
              <a:rPr lang="en-US" sz="1050" dirty="0">
                <a:solidFill>
                  <a:srgbClr val="1E293B"/>
                </a:solidFill>
              </a:rPr>
              <a:t>
</a:t>
            </a:r>
            <a:r>
              <a:rPr lang="en-US" sz="1050" b="1" dirty="0">
                <a:solidFill>
                  <a:srgbClr val="1E293B"/>
                </a:solidFill>
              </a:rPr>
              <a:t>Collection: </a:t>
            </a:r>
            <a:r>
              <a:rPr lang="en-US" sz="1050" i="0" dirty="0">
                <a:solidFill>
                  <a:schemeClr val="bg2">
                    <a:lumMod val="25000"/>
                  </a:schemeClr>
                </a:solidFill>
                <a:effectLst/>
                <a:latin typeface="quote-cjk-patch"/>
              </a:rPr>
              <a:t>A collection of accommodation sensor data matched </a:t>
            </a:r>
            <a:r>
              <a:rPr lang="en-US" sz="1050" dirty="0">
                <a:solidFill>
                  <a:schemeClr val="bg2">
                    <a:lumMod val="25000"/>
                  </a:schemeClr>
                </a:solidFill>
                <a:latin typeface="quote-cjk-patch"/>
              </a:rPr>
              <a:t>with </a:t>
            </a:r>
            <a:r>
              <a:rPr lang="en-US" sz="1050" b="0" i="0" dirty="0">
                <a:solidFill>
                  <a:schemeClr val="bg2">
                    <a:lumMod val="25000"/>
                  </a:schemeClr>
                </a:solidFill>
                <a:effectLst/>
                <a:latin typeface="quote-cjk-patch"/>
              </a:rPr>
              <a:t>hotel room conditions and timely  service interactions.</a:t>
            </a:r>
            <a:endParaRPr lang="en-US" sz="1050" dirty="0">
              <a:solidFill>
                <a:schemeClr val="bg2">
                  <a:lumMod val="25000"/>
                </a:schemeClr>
              </a:solidFill>
            </a:endParaRPr>
          </a:p>
        </p:txBody>
      </p:sp>
      <p:sp>
        <p:nvSpPr>
          <p:cNvPr id="22" name="Shape 19"/>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23" name="Text 20"/>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dirty="0"/>
          </a:p>
        </p:txBody>
      </p:sp>
      <p:sp>
        <p:nvSpPr>
          <p:cNvPr id="3" name="Shape 1"/>
          <p:cNvSpPr/>
          <p:nvPr/>
        </p:nvSpPr>
        <p:spPr>
          <a:xfrm>
            <a:off x="0" y="0"/>
            <a:ext cx="164592" cy="5143500"/>
          </a:xfrm>
          <a:prstGeom prst="rect">
            <a:avLst/>
          </a:prstGeom>
          <a:solidFill>
            <a:srgbClr val="0070C0"/>
          </a:solidFill>
          <a:ln w="12700">
            <a:solidFill>
              <a:srgbClr val="0A9396"/>
            </a:solidFill>
            <a:prstDash val="solid"/>
          </a:ln>
        </p:spPr>
        <p:txBody>
          <a:bodyPr/>
          <a:lstStyle/>
          <a:p>
            <a:endParaRPr lang="en-US" dirty="0"/>
          </a:p>
        </p:txBody>
      </p:sp>
      <p:sp>
        <p:nvSpPr>
          <p:cNvPr id="4" name="Text 2"/>
          <p:cNvSpPr/>
          <p:nvPr/>
        </p:nvSpPr>
        <p:spPr>
          <a:xfrm>
            <a:off x="365760" y="0"/>
            <a:ext cx="8503920" cy="685800"/>
          </a:xfrm>
          <a:prstGeom prst="rect">
            <a:avLst/>
          </a:prstGeom>
          <a:noFill/>
          <a:ln/>
        </p:spPr>
        <p:txBody>
          <a:bodyPr wrap="square" rtlCol="0" anchor="ctr"/>
          <a:lstStyle/>
          <a:p>
            <a:pPr marL="0" indent="0">
              <a:buNone/>
            </a:pPr>
            <a:r>
              <a:rPr lang="en-US" sz="2000" b="1" dirty="0">
                <a:solidFill>
                  <a:srgbClr val="FFFFFF"/>
                </a:solidFill>
              </a:rPr>
              <a:t>Data Preprocessing &amp; Cleaning</a:t>
            </a:r>
            <a:endParaRPr lang="en-US" sz="2000" dirty="0"/>
          </a:p>
        </p:txBody>
      </p:sp>
      <p:sp>
        <p:nvSpPr>
          <p:cNvPr id="5" name="Shape 3"/>
          <p:cNvSpPr/>
          <p:nvPr/>
        </p:nvSpPr>
        <p:spPr>
          <a:xfrm>
            <a:off x="320040" y="822960"/>
            <a:ext cx="50292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20040" y="822960"/>
            <a:ext cx="457200" cy="868680"/>
          </a:xfrm>
          <a:prstGeom prst="rect">
            <a:avLst/>
          </a:prstGeom>
          <a:solidFill>
            <a:srgbClr val="0A9396"/>
          </a:solidFill>
          <a:ln w="12700">
            <a:solidFill>
              <a:srgbClr val="0A9396"/>
            </a:solidFill>
            <a:prstDash val="solid"/>
          </a:ln>
        </p:spPr>
        <p:txBody>
          <a:bodyPr/>
          <a:lstStyle/>
          <a:p>
            <a:endParaRPr lang="en-US"/>
          </a:p>
        </p:txBody>
      </p:sp>
      <p:sp>
        <p:nvSpPr>
          <p:cNvPr id="7" name="Text 5"/>
          <p:cNvSpPr/>
          <p:nvPr/>
        </p:nvSpPr>
        <p:spPr>
          <a:xfrm>
            <a:off x="320040" y="822960"/>
            <a:ext cx="457200" cy="86868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8" name="Text 6"/>
          <p:cNvSpPr/>
          <p:nvPr/>
        </p:nvSpPr>
        <p:spPr>
          <a:xfrm>
            <a:off x="896112" y="896112"/>
            <a:ext cx="4297680" cy="320040"/>
          </a:xfrm>
          <a:prstGeom prst="rect">
            <a:avLst/>
          </a:prstGeom>
          <a:noFill/>
          <a:ln/>
        </p:spPr>
        <p:txBody>
          <a:bodyPr wrap="square" rtlCol="0" anchor="ctr"/>
          <a:lstStyle/>
          <a:p>
            <a:pPr marL="0" indent="0">
              <a:buNone/>
            </a:pPr>
            <a:r>
              <a:rPr lang="en-US" sz="1150" b="1" dirty="0">
                <a:solidFill>
                  <a:srgbClr val="005F73"/>
                </a:solidFill>
              </a:rPr>
              <a:t>Missing value check</a:t>
            </a:r>
            <a:endParaRPr lang="en-US" sz="1150" dirty="0"/>
          </a:p>
        </p:txBody>
      </p:sp>
      <p:sp>
        <p:nvSpPr>
          <p:cNvPr id="9" name="Text 7"/>
          <p:cNvSpPr/>
          <p:nvPr/>
        </p:nvSpPr>
        <p:spPr>
          <a:xfrm>
            <a:off x="896112" y="1225296"/>
            <a:ext cx="4297680" cy="384048"/>
          </a:xfrm>
          <a:prstGeom prst="rect">
            <a:avLst/>
          </a:prstGeom>
          <a:noFill/>
          <a:ln/>
        </p:spPr>
        <p:txBody>
          <a:bodyPr wrap="square" rtlCol="0" anchor="ctr"/>
          <a:lstStyle/>
          <a:p>
            <a:pPr marL="0" indent="0">
              <a:buNone/>
            </a:pPr>
            <a:r>
              <a:rPr lang="en-US" sz="1000" dirty="0">
                <a:solidFill>
                  <a:srgbClr val="1E293B"/>
                </a:solidFill>
              </a:rPr>
              <a:t>Original dataset: 22 missing values confirmed via sum(is.na())</a:t>
            </a:r>
            <a:endParaRPr lang="en-US" sz="1000" dirty="0"/>
          </a:p>
        </p:txBody>
      </p:sp>
      <p:sp>
        <p:nvSpPr>
          <p:cNvPr id="10" name="Shape 8"/>
          <p:cNvSpPr/>
          <p:nvPr/>
        </p:nvSpPr>
        <p:spPr>
          <a:xfrm>
            <a:off x="320040" y="1828800"/>
            <a:ext cx="50292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11" name="Shape 9"/>
          <p:cNvSpPr/>
          <p:nvPr/>
        </p:nvSpPr>
        <p:spPr>
          <a:xfrm>
            <a:off x="320040" y="1828800"/>
            <a:ext cx="457200" cy="868680"/>
          </a:xfrm>
          <a:prstGeom prst="rect">
            <a:avLst/>
          </a:prstGeom>
          <a:solidFill>
            <a:srgbClr val="0A9396"/>
          </a:solidFill>
          <a:ln w="12700">
            <a:solidFill>
              <a:srgbClr val="0A9396"/>
            </a:solidFill>
            <a:prstDash val="solid"/>
          </a:ln>
        </p:spPr>
        <p:txBody>
          <a:bodyPr/>
          <a:lstStyle/>
          <a:p>
            <a:endParaRPr lang="en-US"/>
          </a:p>
        </p:txBody>
      </p:sp>
      <p:sp>
        <p:nvSpPr>
          <p:cNvPr id="12" name="Text 10"/>
          <p:cNvSpPr/>
          <p:nvPr/>
        </p:nvSpPr>
        <p:spPr>
          <a:xfrm>
            <a:off x="320040" y="1828800"/>
            <a:ext cx="457200" cy="86868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3" name="Text 11"/>
          <p:cNvSpPr/>
          <p:nvPr/>
        </p:nvSpPr>
        <p:spPr>
          <a:xfrm>
            <a:off x="896112" y="1901952"/>
            <a:ext cx="4297680" cy="320040"/>
          </a:xfrm>
          <a:prstGeom prst="rect">
            <a:avLst/>
          </a:prstGeom>
          <a:noFill/>
          <a:ln/>
        </p:spPr>
        <p:txBody>
          <a:bodyPr wrap="square" rtlCol="0" anchor="ctr"/>
          <a:lstStyle/>
          <a:p>
            <a:pPr marL="0" indent="0">
              <a:buNone/>
            </a:pPr>
            <a:r>
              <a:rPr lang="en-US" sz="1150" b="1" dirty="0">
                <a:solidFill>
                  <a:srgbClr val="005F73"/>
                </a:solidFill>
              </a:rPr>
              <a:t>Duplicate records check</a:t>
            </a:r>
            <a:endParaRPr lang="en-US" sz="1150" dirty="0"/>
          </a:p>
        </p:txBody>
      </p:sp>
      <p:sp>
        <p:nvSpPr>
          <p:cNvPr id="14" name="Text 12"/>
          <p:cNvSpPr/>
          <p:nvPr/>
        </p:nvSpPr>
        <p:spPr>
          <a:xfrm>
            <a:off x="896112" y="2231136"/>
            <a:ext cx="4297680" cy="384048"/>
          </a:xfrm>
          <a:prstGeom prst="rect">
            <a:avLst/>
          </a:prstGeom>
          <a:noFill/>
          <a:ln/>
        </p:spPr>
        <p:txBody>
          <a:bodyPr wrap="square" rtlCol="0" anchor="ctr"/>
          <a:lstStyle/>
          <a:p>
            <a:pPr marL="0" indent="0">
              <a:buNone/>
            </a:pPr>
            <a:r>
              <a:rPr lang="en-US" sz="1000" b="1" dirty="0"/>
              <a:t>Applied sum(duplicated(data)) </a:t>
            </a:r>
            <a:r>
              <a:rPr lang="en-US" sz="1000" dirty="0"/>
              <a:t>returned 0 – no duplicate rows.</a:t>
            </a:r>
          </a:p>
        </p:txBody>
      </p:sp>
      <p:sp>
        <p:nvSpPr>
          <p:cNvPr id="15" name="Shape 13"/>
          <p:cNvSpPr/>
          <p:nvPr/>
        </p:nvSpPr>
        <p:spPr>
          <a:xfrm>
            <a:off x="320040" y="2834640"/>
            <a:ext cx="50292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16" name="Shape 14"/>
          <p:cNvSpPr/>
          <p:nvPr/>
        </p:nvSpPr>
        <p:spPr>
          <a:xfrm>
            <a:off x="320040" y="2834640"/>
            <a:ext cx="457200" cy="868680"/>
          </a:xfrm>
          <a:prstGeom prst="rect">
            <a:avLst/>
          </a:prstGeom>
          <a:solidFill>
            <a:srgbClr val="0A9396"/>
          </a:solidFill>
          <a:ln w="12700">
            <a:solidFill>
              <a:srgbClr val="0A9396"/>
            </a:solidFill>
            <a:prstDash val="solid"/>
          </a:ln>
        </p:spPr>
        <p:txBody>
          <a:bodyPr/>
          <a:lstStyle/>
          <a:p>
            <a:endParaRPr lang="en-US"/>
          </a:p>
        </p:txBody>
      </p:sp>
      <p:sp>
        <p:nvSpPr>
          <p:cNvPr id="17" name="Text 15"/>
          <p:cNvSpPr/>
          <p:nvPr/>
        </p:nvSpPr>
        <p:spPr>
          <a:xfrm>
            <a:off x="320040" y="2834640"/>
            <a:ext cx="457200" cy="86868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p:nvPr/>
        </p:nvSpPr>
        <p:spPr>
          <a:xfrm>
            <a:off x="896112" y="2907792"/>
            <a:ext cx="4297680" cy="320040"/>
          </a:xfrm>
          <a:prstGeom prst="rect">
            <a:avLst/>
          </a:prstGeom>
          <a:noFill/>
          <a:ln/>
        </p:spPr>
        <p:txBody>
          <a:bodyPr wrap="square" rtlCol="0" anchor="ctr"/>
          <a:lstStyle/>
          <a:p>
            <a:pPr marL="0" indent="0">
              <a:buNone/>
            </a:pPr>
            <a:r>
              <a:rPr lang="en-US" sz="1150" b="1" dirty="0">
                <a:solidFill>
                  <a:srgbClr val="005F73"/>
                </a:solidFill>
              </a:rPr>
              <a:t>Outlier detection</a:t>
            </a:r>
            <a:endParaRPr lang="en-US" sz="1150" dirty="0"/>
          </a:p>
        </p:txBody>
      </p:sp>
      <p:sp>
        <p:nvSpPr>
          <p:cNvPr id="19" name="Text 17"/>
          <p:cNvSpPr/>
          <p:nvPr/>
        </p:nvSpPr>
        <p:spPr>
          <a:xfrm>
            <a:off x="896112" y="3236976"/>
            <a:ext cx="4297680" cy="384048"/>
          </a:xfrm>
          <a:prstGeom prst="rect">
            <a:avLst/>
          </a:prstGeom>
          <a:noFill/>
          <a:ln/>
        </p:spPr>
        <p:txBody>
          <a:bodyPr wrap="square" rtlCol="0" anchor="ctr"/>
          <a:lstStyle/>
          <a:p>
            <a:pPr marL="0" indent="0">
              <a:buNone/>
            </a:pPr>
            <a:r>
              <a:rPr lang="en-US" sz="1000" dirty="0">
                <a:solidFill>
                  <a:srgbClr val="1E293B"/>
                </a:solidFill>
              </a:rPr>
              <a:t>IQR method applied to all numeric variables – 21 outliers found.</a:t>
            </a:r>
            <a:endParaRPr lang="en-US" sz="1000" dirty="0"/>
          </a:p>
        </p:txBody>
      </p:sp>
      <p:sp>
        <p:nvSpPr>
          <p:cNvPr id="20" name="Shape 18"/>
          <p:cNvSpPr/>
          <p:nvPr/>
        </p:nvSpPr>
        <p:spPr>
          <a:xfrm>
            <a:off x="320040" y="3840480"/>
            <a:ext cx="50292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21" name="Shape 19"/>
          <p:cNvSpPr/>
          <p:nvPr/>
        </p:nvSpPr>
        <p:spPr>
          <a:xfrm>
            <a:off x="320040" y="3840480"/>
            <a:ext cx="457200" cy="868680"/>
          </a:xfrm>
          <a:prstGeom prst="rect">
            <a:avLst/>
          </a:prstGeom>
          <a:solidFill>
            <a:srgbClr val="0A9396"/>
          </a:solidFill>
          <a:ln w="12700">
            <a:solidFill>
              <a:srgbClr val="0A9396"/>
            </a:solidFill>
            <a:prstDash val="solid"/>
          </a:ln>
        </p:spPr>
        <p:txBody>
          <a:bodyPr/>
          <a:lstStyle/>
          <a:p>
            <a:endParaRPr lang="en-US"/>
          </a:p>
        </p:txBody>
      </p:sp>
      <p:sp>
        <p:nvSpPr>
          <p:cNvPr id="22" name="Text 20"/>
          <p:cNvSpPr/>
          <p:nvPr/>
        </p:nvSpPr>
        <p:spPr>
          <a:xfrm>
            <a:off x="320040" y="3840480"/>
            <a:ext cx="457200" cy="86868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3" name="Text 21"/>
          <p:cNvSpPr/>
          <p:nvPr/>
        </p:nvSpPr>
        <p:spPr>
          <a:xfrm>
            <a:off x="896112" y="3913632"/>
            <a:ext cx="4297680" cy="320040"/>
          </a:xfrm>
          <a:prstGeom prst="rect">
            <a:avLst/>
          </a:prstGeom>
          <a:noFill/>
          <a:ln/>
        </p:spPr>
        <p:txBody>
          <a:bodyPr wrap="square" rtlCol="0" anchor="ctr"/>
          <a:lstStyle/>
          <a:p>
            <a:pPr marL="0" indent="0">
              <a:buNone/>
            </a:pPr>
            <a:r>
              <a:rPr lang="en-US" sz="1150" b="1" dirty="0">
                <a:solidFill>
                  <a:srgbClr val="005F73"/>
                </a:solidFill>
              </a:rPr>
              <a:t>Data type conversion</a:t>
            </a:r>
            <a:endParaRPr lang="en-US" sz="1150" dirty="0"/>
          </a:p>
        </p:txBody>
      </p:sp>
      <p:sp>
        <p:nvSpPr>
          <p:cNvPr id="24" name="Text 22"/>
          <p:cNvSpPr/>
          <p:nvPr/>
        </p:nvSpPr>
        <p:spPr>
          <a:xfrm>
            <a:off x="896112" y="4242816"/>
            <a:ext cx="4297680" cy="384048"/>
          </a:xfrm>
          <a:prstGeom prst="rect">
            <a:avLst/>
          </a:prstGeom>
          <a:noFill/>
          <a:ln/>
        </p:spPr>
        <p:txBody>
          <a:bodyPr wrap="square" rtlCol="0" anchor="ctr"/>
          <a:lstStyle/>
          <a:p>
            <a:pPr marL="0" indent="0">
              <a:buNone/>
            </a:pPr>
            <a:r>
              <a:rPr lang="en-US" sz="1000" b="1" dirty="0" err="1">
                <a:solidFill>
                  <a:srgbClr val="1E293B"/>
                </a:solidFill>
              </a:rPr>
              <a:t>motion_detected</a:t>
            </a:r>
            <a:r>
              <a:rPr lang="en-US" sz="1000" b="1" dirty="0">
                <a:solidFill>
                  <a:srgbClr val="1E293B"/>
                </a:solidFill>
              </a:rPr>
              <a:t>, </a:t>
            </a:r>
            <a:r>
              <a:rPr lang="en-US" sz="1000" b="1" dirty="0" err="1">
                <a:solidFill>
                  <a:srgbClr val="1E293B"/>
                </a:solidFill>
              </a:rPr>
              <a:t>door_open</a:t>
            </a:r>
            <a:r>
              <a:rPr lang="en-US" sz="1000" b="1" dirty="0">
                <a:solidFill>
                  <a:srgbClr val="1E293B"/>
                </a:solidFill>
              </a:rPr>
              <a:t> </a:t>
            </a:r>
            <a:r>
              <a:rPr lang="en-US" sz="1000" dirty="0">
                <a:solidFill>
                  <a:srgbClr val="1E293B"/>
                </a:solidFill>
              </a:rPr>
              <a:t> converted to </a:t>
            </a:r>
            <a:r>
              <a:rPr lang="en-US" sz="1000" b="1" dirty="0">
                <a:solidFill>
                  <a:srgbClr val="1E293B"/>
                </a:solidFill>
              </a:rPr>
              <a:t>factors</a:t>
            </a:r>
            <a:r>
              <a:rPr lang="en-US" sz="1000" dirty="0">
                <a:solidFill>
                  <a:srgbClr val="1E293B"/>
                </a:solidFill>
              </a:rPr>
              <a:t> for appropriate statistical testing.</a:t>
            </a:r>
            <a:endParaRPr lang="en-US" sz="1000" dirty="0"/>
          </a:p>
        </p:txBody>
      </p:sp>
      <p:sp>
        <p:nvSpPr>
          <p:cNvPr id="27" name="Shape 24"/>
          <p:cNvSpPr/>
          <p:nvPr/>
        </p:nvSpPr>
        <p:spPr>
          <a:xfrm>
            <a:off x="5577840" y="2720340"/>
            <a:ext cx="3246120" cy="196596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n-US" dirty="0"/>
          </a:p>
        </p:txBody>
      </p:sp>
      <p:sp>
        <p:nvSpPr>
          <p:cNvPr id="28" name="Text 25"/>
          <p:cNvSpPr/>
          <p:nvPr/>
        </p:nvSpPr>
        <p:spPr>
          <a:xfrm>
            <a:off x="5715000" y="2724912"/>
            <a:ext cx="2926080" cy="365760"/>
          </a:xfrm>
          <a:prstGeom prst="rect">
            <a:avLst/>
          </a:prstGeom>
          <a:noFill/>
          <a:ln/>
        </p:spPr>
        <p:txBody>
          <a:bodyPr wrap="square" rtlCol="0" anchor="ctr"/>
          <a:lstStyle/>
          <a:p>
            <a:pPr marL="0" indent="0">
              <a:buNone/>
            </a:pPr>
            <a:r>
              <a:rPr lang="en-US" sz="1200" b="1" dirty="0">
                <a:solidFill>
                  <a:srgbClr val="E9C46A"/>
                </a:solidFill>
              </a:rPr>
              <a:t>Key design principle</a:t>
            </a:r>
            <a:endParaRPr lang="en-US" sz="1200" dirty="0"/>
          </a:p>
        </p:txBody>
      </p:sp>
      <p:sp>
        <p:nvSpPr>
          <p:cNvPr id="29" name="Text 26"/>
          <p:cNvSpPr/>
          <p:nvPr/>
        </p:nvSpPr>
        <p:spPr>
          <a:xfrm>
            <a:off x="5715000" y="3127248"/>
            <a:ext cx="2926080" cy="1325880"/>
          </a:xfrm>
          <a:prstGeom prst="rect">
            <a:avLst/>
          </a:prstGeom>
          <a:noFill/>
          <a:ln/>
        </p:spPr>
        <p:txBody>
          <a:bodyPr wrap="square" rtlCol="0" anchor="t"/>
          <a:lstStyle/>
          <a:p>
            <a:pPr marL="0" indent="0" algn="just">
              <a:buNone/>
            </a:pPr>
            <a:r>
              <a:rPr lang="en-US" sz="1050" b="0" i="0" dirty="0">
                <a:solidFill>
                  <a:srgbClr val="F9FAFB"/>
                </a:solidFill>
                <a:effectLst/>
                <a:latin typeface="quote-cjk-patch"/>
              </a:rPr>
              <a:t>All variables were cleaned and properly typed prior to testing. Following the removal of 22 missing values and 21 outliers, the final dataset was reduced from 3,000 to 2,957 rows. Factors were utilized for group comparisons, and continuous predictors remained unscaled in regression to preserve direct interpretability.</a:t>
            </a:r>
            <a:endParaRPr lang="en-US" sz="1050" dirty="0"/>
          </a:p>
        </p:txBody>
      </p:sp>
      <p:sp>
        <p:nvSpPr>
          <p:cNvPr id="30" name="Shape 27"/>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31" name="Text 28"/>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sp>
        <p:nvSpPr>
          <p:cNvPr id="37" name="TextBox 36">
            <a:extLst>
              <a:ext uri="{FF2B5EF4-FFF2-40B4-BE49-F238E27FC236}">
                <a16:creationId xmlns:a16="http://schemas.microsoft.com/office/drawing/2014/main" id="{4471FDD2-78F1-4D81-8A0F-32BC58E1EE7E}"/>
              </a:ext>
            </a:extLst>
          </p:cNvPr>
          <p:cNvSpPr txBox="1"/>
          <p:nvPr/>
        </p:nvSpPr>
        <p:spPr>
          <a:xfrm>
            <a:off x="5578521" y="800302"/>
            <a:ext cx="3246119" cy="1554272"/>
          </a:xfrm>
          <a:prstGeom prst="rect">
            <a:avLst/>
          </a:prstGeom>
          <a:solidFill>
            <a:schemeClr val="accent4">
              <a:lumMod val="20000"/>
              <a:lumOff val="80000"/>
            </a:schemeClr>
          </a:solidFill>
          <a:ln>
            <a:solidFill>
              <a:schemeClr val="accent2"/>
            </a:solidFill>
          </a:ln>
        </p:spPr>
        <p:txBody>
          <a:bodyPr wrap="square" rtlCol="0">
            <a:spAutoFit/>
          </a:bodyPr>
          <a:lstStyle/>
          <a:p>
            <a:r>
              <a:rPr lang="en-US" sz="1200" b="1" i="0" dirty="0">
                <a:solidFill>
                  <a:schemeClr val="accent2"/>
                </a:solidFill>
                <a:effectLst/>
                <a:latin typeface="quote-cjk-patch"/>
              </a:rPr>
              <a:t>Feature engineering</a:t>
            </a:r>
            <a:br>
              <a:rPr lang="en-US" sz="1200" b="1" i="0" dirty="0">
                <a:solidFill>
                  <a:schemeClr val="accent2"/>
                </a:solidFill>
                <a:effectLst/>
                <a:latin typeface="quote-cjk-patch"/>
              </a:rPr>
            </a:br>
            <a:endParaRPr lang="en-US" sz="1200" b="1" i="0" dirty="0">
              <a:solidFill>
                <a:schemeClr val="accent2"/>
              </a:solidFill>
              <a:effectLst/>
              <a:latin typeface="quote-cjk-patch"/>
            </a:endParaRPr>
          </a:p>
          <a:p>
            <a:pPr marL="171450" indent="-171450">
              <a:buFont typeface="Arial" panose="020B0604020202020204" pitchFamily="34" charset="0"/>
              <a:buChar char="•"/>
            </a:pPr>
            <a:r>
              <a:rPr lang="en-US" sz="1050" b="0" i="0" dirty="0">
                <a:solidFill>
                  <a:schemeClr val="tx2">
                    <a:lumMod val="75000"/>
                  </a:schemeClr>
                </a:solidFill>
                <a:effectLst/>
                <a:latin typeface="quote-cjk-patch"/>
              </a:rPr>
              <a:t>Created </a:t>
            </a:r>
            <a:r>
              <a:rPr lang="en-US" sz="1050" b="1" i="0" dirty="0">
                <a:solidFill>
                  <a:schemeClr val="tx2">
                    <a:lumMod val="75000"/>
                  </a:schemeClr>
                </a:solidFill>
                <a:effectLst/>
                <a:latin typeface="quote-cjk-patch"/>
              </a:rPr>
              <a:t>two new categorical variables</a:t>
            </a:r>
            <a:r>
              <a:rPr lang="en-US" sz="1050" b="0" i="0" dirty="0">
                <a:solidFill>
                  <a:schemeClr val="tx2">
                    <a:lumMod val="75000"/>
                  </a:schemeClr>
                </a:solidFill>
                <a:effectLst/>
                <a:latin typeface="quote-cjk-patch"/>
              </a:rPr>
              <a:t>.</a:t>
            </a:r>
          </a:p>
          <a:p>
            <a:endParaRPr lang="en-US" sz="1050" b="0" i="0" dirty="0">
              <a:solidFill>
                <a:schemeClr val="tx2">
                  <a:lumMod val="75000"/>
                </a:schemeClr>
              </a:solidFill>
              <a:effectLst/>
              <a:latin typeface="quote-cjk-patch"/>
            </a:endParaRPr>
          </a:p>
          <a:p>
            <a:pPr marL="171450" indent="-171450">
              <a:buFont typeface="Wingdings" panose="05000000000000000000" pitchFamily="2" charset="2"/>
              <a:buChar char="Ø"/>
            </a:pPr>
            <a:r>
              <a:rPr lang="en-US" sz="1000" b="1" i="0" dirty="0" err="1">
                <a:solidFill>
                  <a:schemeClr val="tx2">
                    <a:lumMod val="75000"/>
                  </a:schemeClr>
                </a:solidFill>
                <a:effectLst/>
                <a:latin typeface="quote-cjk-patch"/>
              </a:rPr>
              <a:t>Timeliness_Group</a:t>
            </a:r>
            <a:r>
              <a:rPr lang="en-US" sz="1000" b="1" i="0" dirty="0">
                <a:solidFill>
                  <a:schemeClr val="tx2">
                    <a:lumMod val="75000"/>
                  </a:schemeClr>
                </a:solidFill>
                <a:effectLst/>
                <a:latin typeface="quote-cjk-patch"/>
              </a:rPr>
              <a:t> </a:t>
            </a:r>
            <a:r>
              <a:rPr lang="en-US" sz="1000" b="0" i="0" dirty="0">
                <a:solidFill>
                  <a:schemeClr val="tx2">
                    <a:lumMod val="75000"/>
                  </a:schemeClr>
                </a:solidFill>
                <a:effectLst/>
                <a:latin typeface="quote-cjk-patch"/>
              </a:rPr>
              <a:t>(High ≤15 min, Medium 16–40 min, Low &gt;40 min) from </a:t>
            </a:r>
            <a:r>
              <a:rPr lang="en-US" sz="1000" b="1" i="0" dirty="0" err="1">
                <a:solidFill>
                  <a:schemeClr val="tx2">
                    <a:lumMod val="75000"/>
                  </a:schemeClr>
                </a:solidFill>
                <a:effectLst/>
                <a:latin typeface="quote-cjk-patch"/>
              </a:rPr>
              <a:t>service_response_time_min</a:t>
            </a:r>
            <a:r>
              <a:rPr lang="en-US" sz="1000" b="1" i="0" dirty="0">
                <a:solidFill>
                  <a:schemeClr val="tx2">
                    <a:lumMod val="75000"/>
                  </a:schemeClr>
                </a:solidFill>
                <a:effectLst/>
                <a:latin typeface="quote-cjk-patch"/>
              </a:rPr>
              <a:t>.</a:t>
            </a:r>
          </a:p>
          <a:p>
            <a:endParaRPr lang="en-US" sz="1000" b="1" i="0" dirty="0">
              <a:solidFill>
                <a:schemeClr val="tx2">
                  <a:lumMod val="75000"/>
                </a:schemeClr>
              </a:solidFill>
              <a:effectLst/>
              <a:latin typeface="quote-cjk-patch"/>
            </a:endParaRPr>
          </a:p>
          <a:p>
            <a:pPr marL="171450" indent="-171450">
              <a:buFont typeface="Wingdings" panose="05000000000000000000" pitchFamily="2" charset="2"/>
              <a:buChar char="Ø"/>
            </a:pPr>
            <a:r>
              <a:rPr lang="en-US" sz="1000" b="1" i="0" dirty="0" err="1">
                <a:solidFill>
                  <a:schemeClr val="tx2">
                    <a:lumMod val="75000"/>
                  </a:schemeClr>
                </a:solidFill>
                <a:effectLst/>
                <a:latin typeface="quote-cjk-patch"/>
              </a:rPr>
              <a:t>Noise_Group</a:t>
            </a:r>
            <a:r>
              <a:rPr lang="en-US" sz="1000" b="1" i="0" dirty="0">
                <a:solidFill>
                  <a:schemeClr val="tx2">
                    <a:lumMod val="75000"/>
                  </a:schemeClr>
                </a:solidFill>
                <a:effectLst/>
                <a:latin typeface="quote-cjk-patch"/>
              </a:rPr>
              <a:t> </a:t>
            </a:r>
            <a:r>
              <a:rPr lang="en-US" sz="1000" b="0" i="0" dirty="0">
                <a:solidFill>
                  <a:schemeClr val="tx2">
                    <a:lumMod val="75000"/>
                  </a:schemeClr>
                </a:solidFill>
                <a:effectLst/>
                <a:latin typeface="quote-cjk-patch"/>
              </a:rPr>
              <a:t>(Quiet ≤40 dB, Moderate 41–70 dB, Noisy &gt;70 dB) from </a:t>
            </a:r>
            <a:r>
              <a:rPr lang="en-US" sz="1000" b="1" i="0" dirty="0" err="1">
                <a:solidFill>
                  <a:schemeClr val="tx2">
                    <a:lumMod val="75000"/>
                  </a:schemeClr>
                </a:solidFill>
                <a:effectLst/>
                <a:latin typeface="quote-cjk-patch"/>
              </a:rPr>
              <a:t>noise_level_db</a:t>
            </a:r>
            <a:r>
              <a:rPr lang="en-US" sz="1000" b="1" i="0" dirty="0">
                <a:solidFill>
                  <a:schemeClr val="tx2">
                    <a:lumMod val="75000"/>
                  </a:schemeClr>
                </a:solidFill>
                <a:effectLst/>
                <a:latin typeface="quote-cjk-patch"/>
              </a:rPr>
              <a:t>.</a:t>
            </a:r>
            <a:endParaRPr lang="en-US" sz="1200" b="1" dirty="0">
              <a:solidFill>
                <a:schemeClr val="accent2"/>
              </a:solidFill>
              <a:latin typeface="quote-cjk-patch"/>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rgbClr val="0070C0"/>
          </a:solidFill>
          <a:ln w="12700">
            <a:solidFill>
              <a:srgbClr val="E9C46A"/>
            </a:solidFill>
            <a:prstDash val="solid"/>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buNone/>
            </a:pPr>
            <a:r>
              <a:rPr lang="en-US" sz="2000" b="1" dirty="0">
                <a:solidFill>
                  <a:srgbClr val="FFFFFF"/>
                </a:solidFill>
              </a:rPr>
              <a:t>Descriptive Analysis</a:t>
            </a:r>
            <a:endParaRPr lang="en-US" sz="2000" dirty="0"/>
          </a:p>
        </p:txBody>
      </p:sp>
      <p:sp>
        <p:nvSpPr>
          <p:cNvPr id="5" name="Text 3"/>
          <p:cNvSpPr/>
          <p:nvPr/>
        </p:nvSpPr>
        <p:spPr>
          <a:xfrm>
            <a:off x="698765" y="698941"/>
            <a:ext cx="5029200" cy="347472"/>
          </a:xfrm>
          <a:prstGeom prst="rect">
            <a:avLst/>
          </a:prstGeom>
          <a:noFill/>
          <a:ln/>
        </p:spPr>
        <p:txBody>
          <a:bodyPr wrap="square" rtlCol="0" anchor="ctr"/>
          <a:lstStyle/>
          <a:p>
            <a:pPr marL="0" indent="0">
              <a:buNone/>
            </a:pPr>
            <a:r>
              <a:rPr lang="en-US" sz="1200" b="1" dirty="0">
                <a:solidFill>
                  <a:srgbClr val="005F73"/>
                </a:solidFill>
              </a:rPr>
              <a:t>Summary statistics — key features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836752459"/>
              </p:ext>
            </p:extLst>
          </p:nvPr>
        </p:nvGraphicFramePr>
        <p:xfrm>
          <a:off x="770416" y="1126212"/>
          <a:ext cx="4763751" cy="1611378"/>
        </p:xfrm>
        <a:graphic>
          <a:graphicData uri="http://schemas.openxmlformats.org/drawingml/2006/table">
            <a:tbl>
              <a:tblPr/>
              <a:tblGrid>
                <a:gridCol w="1643139">
                  <a:extLst>
                    <a:ext uri="{9D8B030D-6E8A-4147-A177-3AD203B41FA5}">
                      <a16:colId xmlns:a16="http://schemas.microsoft.com/office/drawing/2014/main" val="20000"/>
                    </a:ext>
                  </a:extLst>
                </a:gridCol>
                <a:gridCol w="738737">
                  <a:extLst>
                    <a:ext uri="{9D8B030D-6E8A-4147-A177-3AD203B41FA5}">
                      <a16:colId xmlns:a16="http://schemas.microsoft.com/office/drawing/2014/main" val="20001"/>
                    </a:ext>
                  </a:extLst>
                </a:gridCol>
                <a:gridCol w="857475">
                  <a:extLst>
                    <a:ext uri="{9D8B030D-6E8A-4147-A177-3AD203B41FA5}">
                      <a16:colId xmlns:a16="http://schemas.microsoft.com/office/drawing/2014/main" val="20002"/>
                    </a:ext>
                  </a:extLst>
                </a:gridCol>
                <a:gridCol w="762200">
                  <a:extLst>
                    <a:ext uri="{9D8B030D-6E8A-4147-A177-3AD203B41FA5}">
                      <a16:colId xmlns:a16="http://schemas.microsoft.com/office/drawing/2014/main" val="20003"/>
                    </a:ext>
                  </a:extLst>
                </a:gridCol>
                <a:gridCol w="762200">
                  <a:extLst>
                    <a:ext uri="{9D8B030D-6E8A-4147-A177-3AD203B41FA5}">
                      <a16:colId xmlns:a16="http://schemas.microsoft.com/office/drawing/2014/main" val="20004"/>
                    </a:ext>
                  </a:extLst>
                </a:gridCol>
              </a:tblGrid>
              <a:tr h="268563">
                <a:tc>
                  <a:txBody>
                    <a:bodyPr/>
                    <a:lstStyle/>
                    <a:p>
                      <a:pPr marL="0" indent="0">
                        <a:buNone/>
                      </a:pPr>
                      <a:r>
                        <a:rPr lang="en-US" sz="1000" b="1" dirty="0">
                          <a:solidFill>
                            <a:srgbClr val="FFFFFF"/>
                          </a:solidFill>
                        </a:rPr>
                        <a:t>Feature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5F73"/>
                    </a:solidFill>
                  </a:tcPr>
                </a:tc>
                <a:tc>
                  <a:txBody>
                    <a:bodyPr/>
                    <a:lstStyle/>
                    <a:p>
                      <a:pPr marL="0" indent="0">
                        <a:buNone/>
                      </a:pPr>
                      <a:r>
                        <a:rPr lang="en-US" sz="1000" b="1" dirty="0">
                          <a:solidFill>
                            <a:srgbClr val="FFFFFF"/>
                          </a:solidFill>
                        </a:rPr>
                        <a:t>Mean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5F73"/>
                    </a:solidFill>
                  </a:tcPr>
                </a:tc>
                <a:tc>
                  <a:txBody>
                    <a:bodyPr/>
                    <a:lstStyle/>
                    <a:p>
                      <a:pPr marL="0" indent="0">
                        <a:buNone/>
                      </a:pPr>
                      <a:r>
                        <a:rPr lang="en-US" sz="1000" b="1" dirty="0">
                          <a:solidFill>
                            <a:srgbClr val="FFFFFF"/>
                          </a:solidFill>
                        </a:rPr>
                        <a:t>Std Dev</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5F73"/>
                    </a:solidFill>
                  </a:tcPr>
                </a:tc>
                <a:tc>
                  <a:txBody>
                    <a:bodyPr/>
                    <a:lstStyle/>
                    <a:p>
                      <a:pPr marL="0" indent="0">
                        <a:buNone/>
                      </a:pPr>
                      <a:r>
                        <a:rPr lang="en-US" sz="1000" b="1" dirty="0">
                          <a:solidFill>
                            <a:srgbClr val="FFFFFF"/>
                          </a:solidFill>
                        </a:rPr>
                        <a:t>Min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5F73"/>
                    </a:solidFill>
                  </a:tcPr>
                </a:tc>
                <a:tc>
                  <a:txBody>
                    <a:bodyPr/>
                    <a:lstStyle/>
                    <a:p>
                      <a:pPr marL="0" indent="0">
                        <a:buNone/>
                      </a:pPr>
                      <a:r>
                        <a:rPr lang="en-US" sz="1000" b="1" dirty="0">
                          <a:solidFill>
                            <a:srgbClr val="FFFFFF"/>
                          </a:solidFill>
                        </a:rPr>
                        <a:t>Max</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5F73"/>
                    </a:solidFill>
                  </a:tcPr>
                </a:tc>
                <a:extLst>
                  <a:ext uri="{0D108BD9-81ED-4DB2-BD59-A6C34878D82A}">
                    <a16:rowId xmlns:a16="http://schemas.microsoft.com/office/drawing/2014/main" val="10000"/>
                  </a:ext>
                </a:extLst>
              </a:tr>
              <a:tr h="268563">
                <a:tc>
                  <a:txBody>
                    <a:bodyPr/>
                    <a:lstStyle/>
                    <a:p>
                      <a:pPr marL="0" indent="0">
                        <a:buNone/>
                      </a:pPr>
                      <a:r>
                        <a:rPr lang="en-US" sz="1000" dirty="0">
                          <a:solidFill>
                            <a:srgbClr val="000000"/>
                          </a:solidFill>
                        </a:rPr>
                        <a:t>Service quality score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69.62</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8.56</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45.75</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92.82</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68563">
                <a:tc>
                  <a:txBody>
                    <a:bodyPr/>
                    <a:lstStyle/>
                    <a:p>
                      <a:pPr marL="0" indent="0">
                        <a:buNone/>
                      </a:pPr>
                      <a:r>
                        <a:rPr lang="en-US" sz="1000" dirty="0">
                          <a:solidFill>
                            <a:srgbClr val="000000"/>
                          </a:solidFill>
                        </a:rPr>
                        <a:t>Service response time min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30.35</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16.96</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1.02</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60.00</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268563">
                <a:tc>
                  <a:txBody>
                    <a:bodyPr/>
                    <a:lstStyle/>
                    <a:p>
                      <a:pPr marL="0" indent="0">
                        <a:buNone/>
                      </a:pPr>
                      <a:r>
                        <a:rPr lang="en-US" sz="1000" dirty="0"/>
                        <a:t>noise level </a:t>
                      </a:r>
                      <a:r>
                        <a:rPr lang="en-US" sz="1000" dirty="0" err="1"/>
                        <a:t>db</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55.23</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20.15</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20.15</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89.97</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268563">
                <a:tc>
                  <a:txBody>
                    <a:bodyPr/>
                    <a:lstStyle/>
                    <a:p>
                      <a:pPr marL="0" indent="0">
                        <a:buNone/>
                      </a:pPr>
                      <a:r>
                        <a:rPr lang="en-US" sz="1000" dirty="0"/>
                        <a:t>air quality index</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69.95</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28.48</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20.01</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119.99</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268563">
                <a:tc>
                  <a:txBody>
                    <a:bodyPr/>
                    <a:lstStyle/>
                    <a:p>
                      <a:pPr marL="0" indent="0">
                        <a:buNone/>
                      </a:pPr>
                      <a:r>
                        <a:rPr lang="en-US" sz="1000" dirty="0"/>
                        <a:t>service request count</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2.00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t>1.43</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4</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4"/>
          <p:cNvSpPr/>
          <p:nvPr/>
        </p:nvSpPr>
        <p:spPr>
          <a:xfrm>
            <a:off x="705691" y="2793941"/>
            <a:ext cx="5029200" cy="347472"/>
          </a:xfrm>
          <a:prstGeom prst="rect">
            <a:avLst/>
          </a:prstGeom>
          <a:noFill/>
          <a:ln/>
        </p:spPr>
        <p:txBody>
          <a:bodyPr wrap="square" rtlCol="0" anchor="ctr"/>
          <a:lstStyle/>
          <a:p>
            <a:pPr marL="0" indent="0">
              <a:buNone/>
            </a:pPr>
            <a:r>
              <a:rPr lang="en-US" sz="1200" b="1" dirty="0">
                <a:solidFill>
                  <a:srgbClr val="005F73"/>
                </a:solidFill>
              </a:rPr>
              <a:t>Key descriptive findings</a:t>
            </a:r>
            <a:endParaRPr lang="en-US" sz="1200" dirty="0"/>
          </a:p>
        </p:txBody>
      </p:sp>
      <p:sp>
        <p:nvSpPr>
          <p:cNvPr id="8" name="Text 5"/>
          <p:cNvSpPr/>
          <p:nvPr/>
        </p:nvSpPr>
        <p:spPr>
          <a:xfrm>
            <a:off x="541099" y="2886504"/>
            <a:ext cx="4993068" cy="2136710"/>
          </a:xfrm>
          <a:prstGeom prst="rect">
            <a:avLst/>
          </a:prstGeom>
          <a:noFill/>
          <a:ln/>
        </p:spPr>
        <p:txBody>
          <a:bodyPr wrap="square" rtlCol="0" anchor="ctr"/>
          <a:lstStyle/>
          <a:p>
            <a:pPr marL="342900" indent="-342900">
              <a:buSzPct val="100000"/>
              <a:buChar char="•"/>
            </a:pPr>
            <a:r>
              <a:rPr lang="en-US" sz="1050" dirty="0">
                <a:solidFill>
                  <a:srgbClr val="1E293B"/>
                </a:solidFill>
              </a:rPr>
              <a:t>Service Quality Score ranges from 45.75 to 92.82 (mean 69.62, SD 8.56) – moderate spread, indicating real differences in customer confidence.</a:t>
            </a:r>
          </a:p>
          <a:p>
            <a:pPr marL="342900" indent="-342900">
              <a:buSzPct val="100000"/>
              <a:buChar char="•"/>
            </a:pPr>
            <a:r>
              <a:rPr lang="en-US" sz="1050" dirty="0">
                <a:solidFill>
                  <a:srgbClr val="1E293B"/>
                </a:solidFill>
              </a:rPr>
              <a:t>Response Time varies widely from 1.02 to 60.00 minutes (mean 30.35, SD 16.96) – service speed differs greatly across observations.</a:t>
            </a:r>
          </a:p>
          <a:p>
            <a:pPr marL="342900" indent="-342900">
              <a:buSzPct val="100000"/>
              <a:buChar char="•"/>
            </a:pPr>
            <a:r>
              <a:rPr lang="en-US" sz="1050" dirty="0">
                <a:solidFill>
                  <a:srgbClr val="1E293B"/>
                </a:solidFill>
              </a:rPr>
              <a:t>Noise Level (mean 55.23 dB, SD 20.15, max 89.97) and Air Quality Index (mean 69.95, SD 28.48, max 119.99) show large variability – room environments are far from uniform.</a:t>
            </a:r>
          </a:p>
          <a:p>
            <a:pPr marL="342900" indent="-342900">
              <a:buSzPct val="100000"/>
              <a:buChar char="•"/>
            </a:pPr>
            <a:r>
              <a:rPr lang="en-US" sz="1050" dirty="0">
                <a:solidFill>
                  <a:srgbClr val="1E293B"/>
                </a:solidFill>
              </a:rPr>
              <a:t>Air quality and noise level also negatively correlate with satisfaction .</a:t>
            </a:r>
          </a:p>
          <a:p>
            <a:pPr marL="342900" indent="-342900">
              <a:buSzPct val="100000"/>
              <a:buChar char="•"/>
            </a:pPr>
            <a:r>
              <a:rPr lang="en-US" sz="1050" dirty="0">
                <a:solidFill>
                  <a:srgbClr val="1E293B"/>
                </a:solidFill>
              </a:rPr>
              <a:t>Temperature is relatively stable (mean 24.98°C, SD 3.99) – most rooms remain within a narrow comfort zone.</a:t>
            </a:r>
            <a:endParaRPr lang="en-US" sz="1050" dirty="0"/>
          </a:p>
        </p:txBody>
      </p:sp>
      <p:sp>
        <p:nvSpPr>
          <p:cNvPr id="39" name="Shape 36"/>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40" name="Text 37"/>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pic>
        <p:nvPicPr>
          <p:cNvPr id="44" name="Picture 43">
            <a:extLst>
              <a:ext uri="{FF2B5EF4-FFF2-40B4-BE49-F238E27FC236}">
                <a16:creationId xmlns:a16="http://schemas.microsoft.com/office/drawing/2014/main" id="{9C1F746A-D834-4D57-BAB2-08C9E55707C0}"/>
              </a:ext>
            </a:extLst>
          </p:cNvPr>
          <p:cNvPicPr>
            <a:picLocks noChangeAspect="1"/>
          </p:cNvPicPr>
          <p:nvPr/>
        </p:nvPicPr>
        <p:blipFill>
          <a:blip r:embed="rId3"/>
          <a:stretch>
            <a:fillRect/>
          </a:stretch>
        </p:blipFill>
        <p:spPr>
          <a:xfrm>
            <a:off x="5734891" y="1089034"/>
            <a:ext cx="3343633" cy="2052379"/>
          </a:xfrm>
          <a:prstGeom prst="rect">
            <a:avLst/>
          </a:prstGeom>
          <a:ln>
            <a:solidFill>
              <a:schemeClr val="accent5"/>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rgbClr val="0070C0"/>
          </a:solidFill>
          <a:ln w="12700">
            <a:solidFill>
              <a:srgbClr val="0A9396"/>
            </a:solidFill>
            <a:prstDash val="solid"/>
          </a:ln>
        </p:spPr>
        <p:txBody>
          <a:bodyPr/>
          <a:lstStyle/>
          <a:p>
            <a:endParaRPr lang="en-US"/>
          </a:p>
        </p:txBody>
      </p:sp>
      <p:sp>
        <p:nvSpPr>
          <p:cNvPr id="4" name="Text 2"/>
          <p:cNvSpPr/>
          <p:nvPr/>
        </p:nvSpPr>
        <p:spPr>
          <a:xfrm>
            <a:off x="365760" y="0"/>
            <a:ext cx="8503920" cy="685800"/>
          </a:xfrm>
          <a:prstGeom prst="rect">
            <a:avLst/>
          </a:prstGeom>
          <a:noFill/>
          <a:ln/>
        </p:spPr>
        <p:txBody>
          <a:bodyPr wrap="square" rtlCol="0" anchor="ctr"/>
          <a:lstStyle/>
          <a:p>
            <a:pPr marL="0" indent="0">
              <a:buNone/>
            </a:pPr>
            <a:r>
              <a:rPr lang="en-US" sz="2000" b="1" dirty="0">
                <a:solidFill>
                  <a:srgbClr val="FFFFFF"/>
                </a:solidFill>
              </a:rPr>
              <a:t>Inferential Analysis — Hypothesis Testing</a:t>
            </a:r>
            <a:endParaRPr lang="en-US" sz="2000" dirty="0"/>
          </a:p>
        </p:txBody>
      </p:sp>
      <p:sp>
        <p:nvSpPr>
          <p:cNvPr id="5" name="Shape 3"/>
          <p:cNvSpPr/>
          <p:nvPr/>
        </p:nvSpPr>
        <p:spPr>
          <a:xfrm>
            <a:off x="320040" y="804672"/>
            <a:ext cx="4023360" cy="960120"/>
          </a:xfrm>
          <a:prstGeom prst="rect">
            <a:avLst/>
          </a:prstGeom>
          <a:solidFill>
            <a:schemeClr val="accent4">
              <a:lumMod val="20000"/>
              <a:lumOff val="80000"/>
            </a:schemeClr>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6" name="Shape 4"/>
          <p:cNvSpPr/>
          <p:nvPr/>
        </p:nvSpPr>
        <p:spPr>
          <a:xfrm>
            <a:off x="320040" y="804672"/>
            <a:ext cx="4023360" cy="64008"/>
          </a:xfrm>
          <a:prstGeom prst="rect">
            <a:avLst/>
          </a:prstGeom>
          <a:solidFill>
            <a:srgbClr val="94A3B8"/>
          </a:solidFill>
          <a:ln w="12700">
            <a:solidFill>
              <a:srgbClr val="94A3B8"/>
            </a:solidFill>
            <a:prstDash val="solid"/>
          </a:ln>
        </p:spPr>
        <p:txBody>
          <a:bodyPr/>
          <a:lstStyle/>
          <a:p>
            <a:endParaRPr lang="en-US"/>
          </a:p>
        </p:txBody>
      </p:sp>
      <p:sp>
        <p:nvSpPr>
          <p:cNvPr id="7" name="Text 5"/>
          <p:cNvSpPr/>
          <p:nvPr/>
        </p:nvSpPr>
        <p:spPr>
          <a:xfrm>
            <a:off x="457200" y="896112"/>
            <a:ext cx="3749040" cy="320040"/>
          </a:xfrm>
          <a:prstGeom prst="rect">
            <a:avLst/>
          </a:prstGeom>
          <a:noFill/>
          <a:ln/>
        </p:spPr>
        <p:txBody>
          <a:bodyPr wrap="square" rtlCol="0" anchor="ctr"/>
          <a:lstStyle/>
          <a:p>
            <a:pPr marL="0" indent="0">
              <a:buNone/>
            </a:pPr>
            <a:r>
              <a:rPr lang="en-US" sz="1150" b="1" dirty="0">
                <a:solidFill>
                  <a:srgbClr val="1E293B"/>
                </a:solidFill>
              </a:rPr>
              <a:t>H₀ — Null Hypothesis</a:t>
            </a:r>
            <a:endParaRPr lang="en-US" sz="1150" dirty="0"/>
          </a:p>
        </p:txBody>
      </p:sp>
      <p:sp>
        <p:nvSpPr>
          <p:cNvPr id="8" name="Text 6"/>
          <p:cNvSpPr/>
          <p:nvPr/>
        </p:nvSpPr>
        <p:spPr>
          <a:xfrm>
            <a:off x="457200" y="1156716"/>
            <a:ext cx="3749040" cy="502920"/>
          </a:xfrm>
          <a:prstGeom prst="rect">
            <a:avLst/>
          </a:prstGeom>
          <a:noFill/>
          <a:ln/>
        </p:spPr>
        <p:txBody>
          <a:bodyPr wrap="square" rtlCol="0" anchor="ctr"/>
          <a:lstStyle/>
          <a:p>
            <a:pPr marL="0" indent="0">
              <a:buNone/>
            </a:pPr>
            <a:r>
              <a:rPr lang="en-US" sz="1050" dirty="0">
                <a:solidFill>
                  <a:srgbClr val="1E293B"/>
                </a:solidFill>
              </a:rPr>
              <a:t>Timely updates have no significant effect on customer confidence</a:t>
            </a:r>
          </a:p>
        </p:txBody>
      </p:sp>
      <p:sp>
        <p:nvSpPr>
          <p:cNvPr id="9" name="Shape 7"/>
          <p:cNvSpPr/>
          <p:nvPr/>
        </p:nvSpPr>
        <p:spPr>
          <a:xfrm>
            <a:off x="4754880" y="804672"/>
            <a:ext cx="4069080" cy="960120"/>
          </a:xfrm>
          <a:prstGeom prst="rect">
            <a:avLst/>
          </a:prstGeom>
          <a:solidFill>
            <a:schemeClr val="accent2">
              <a:lumMod val="20000"/>
              <a:lumOff val="80000"/>
            </a:schemeClr>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10" name="Shape 8"/>
          <p:cNvSpPr/>
          <p:nvPr/>
        </p:nvSpPr>
        <p:spPr>
          <a:xfrm>
            <a:off x="4754880" y="804672"/>
            <a:ext cx="4069080" cy="64008"/>
          </a:xfrm>
          <a:prstGeom prst="rect">
            <a:avLst/>
          </a:prstGeom>
          <a:solidFill>
            <a:srgbClr val="0A9396"/>
          </a:solidFill>
          <a:ln w="12700">
            <a:solidFill>
              <a:srgbClr val="0A9396"/>
            </a:solidFill>
            <a:prstDash val="solid"/>
          </a:ln>
        </p:spPr>
        <p:txBody>
          <a:bodyPr/>
          <a:lstStyle/>
          <a:p>
            <a:endParaRPr lang="en-US"/>
          </a:p>
        </p:txBody>
      </p:sp>
      <p:sp>
        <p:nvSpPr>
          <p:cNvPr id="11" name="Text 9"/>
          <p:cNvSpPr/>
          <p:nvPr/>
        </p:nvSpPr>
        <p:spPr>
          <a:xfrm>
            <a:off x="4892040" y="896112"/>
            <a:ext cx="3749040" cy="320040"/>
          </a:xfrm>
          <a:prstGeom prst="rect">
            <a:avLst/>
          </a:prstGeom>
          <a:noFill/>
          <a:ln/>
        </p:spPr>
        <p:txBody>
          <a:bodyPr wrap="square" rtlCol="0" anchor="ctr"/>
          <a:lstStyle/>
          <a:p>
            <a:pPr marL="0" indent="0">
              <a:buNone/>
            </a:pPr>
            <a:r>
              <a:rPr lang="en-US" sz="1150" b="1" dirty="0">
                <a:solidFill>
                  <a:srgbClr val="005F73"/>
                </a:solidFill>
              </a:rPr>
              <a:t>H₁ — Alternative Hypothesis</a:t>
            </a:r>
            <a:endParaRPr lang="en-US" sz="1150" dirty="0"/>
          </a:p>
        </p:txBody>
      </p:sp>
      <p:sp>
        <p:nvSpPr>
          <p:cNvPr id="12" name="Text 10"/>
          <p:cNvSpPr/>
          <p:nvPr/>
        </p:nvSpPr>
        <p:spPr>
          <a:xfrm>
            <a:off x="4892040" y="1234440"/>
            <a:ext cx="3749040" cy="411480"/>
          </a:xfrm>
          <a:prstGeom prst="rect">
            <a:avLst/>
          </a:prstGeom>
          <a:noFill/>
          <a:ln/>
        </p:spPr>
        <p:txBody>
          <a:bodyPr wrap="square" rtlCol="0" anchor="ctr"/>
          <a:lstStyle/>
          <a:p>
            <a:pPr marL="0" indent="0">
              <a:buNone/>
            </a:pPr>
            <a:r>
              <a:rPr lang="en-US" sz="1050" dirty="0">
                <a:solidFill>
                  <a:srgbClr val="1E293B"/>
                </a:solidFill>
              </a:rPr>
              <a:t>Timely updates significantly increase customer confidence.</a:t>
            </a:r>
            <a:endParaRPr lang="en-US" sz="1050" dirty="0"/>
          </a:p>
        </p:txBody>
      </p:sp>
      <p:sp>
        <p:nvSpPr>
          <p:cNvPr id="13" name="Text 11"/>
          <p:cNvSpPr/>
          <p:nvPr/>
        </p:nvSpPr>
        <p:spPr>
          <a:xfrm>
            <a:off x="274320" y="2199064"/>
            <a:ext cx="4572000" cy="320040"/>
          </a:xfrm>
          <a:prstGeom prst="rect">
            <a:avLst/>
          </a:prstGeom>
          <a:noFill/>
          <a:ln/>
        </p:spPr>
        <p:txBody>
          <a:bodyPr wrap="square" rtlCol="0" anchor="ctr"/>
          <a:lstStyle/>
          <a:p>
            <a:pPr marL="0" indent="0">
              <a:buNone/>
            </a:pPr>
            <a:r>
              <a:rPr lang="en-US" sz="1400" b="1" dirty="0">
                <a:solidFill>
                  <a:srgbClr val="005F73"/>
                </a:solidFill>
              </a:rPr>
              <a:t>Tests Applied</a:t>
            </a:r>
            <a:endParaRPr lang="en-US" sz="1400" dirty="0"/>
          </a:p>
        </p:txBody>
      </p:sp>
      <p:sp>
        <p:nvSpPr>
          <p:cNvPr id="14" name="Text 12"/>
          <p:cNvSpPr/>
          <p:nvPr/>
        </p:nvSpPr>
        <p:spPr>
          <a:xfrm>
            <a:off x="274320" y="2199064"/>
            <a:ext cx="4365919" cy="2052964"/>
          </a:xfrm>
          <a:prstGeom prst="rect">
            <a:avLst/>
          </a:prstGeom>
          <a:noFill/>
          <a:ln>
            <a:solidFill>
              <a:schemeClr val="accent5">
                <a:lumMod val="75000"/>
              </a:schemeClr>
            </a:solidFill>
          </a:ln>
        </p:spPr>
        <p:txBody>
          <a:bodyPr wrap="square" rtlCol="0" anchor="ctr"/>
          <a:lstStyle/>
          <a:p>
            <a:pPr marL="342900" indent="-342900">
              <a:buSzPct val="100000"/>
              <a:buChar char="•"/>
            </a:pPr>
            <a:r>
              <a:rPr lang="en-US" sz="1400" dirty="0">
                <a:solidFill>
                  <a:srgbClr val="1E293B"/>
                </a:solidFill>
              </a:rPr>
              <a:t>Pearson correlation </a:t>
            </a:r>
          </a:p>
          <a:p>
            <a:pPr marL="342900" indent="-342900">
              <a:buSzPct val="100000"/>
              <a:buChar char="•"/>
            </a:pPr>
            <a:r>
              <a:rPr lang="en-US" sz="1400" dirty="0"/>
              <a:t>One‑way ANOVA (</a:t>
            </a:r>
            <a:r>
              <a:rPr lang="en-US" sz="1400" dirty="0" err="1"/>
              <a:t>Timeliness_Group</a:t>
            </a:r>
            <a:r>
              <a:rPr lang="en-US" sz="1400" dirty="0"/>
              <a:t> &amp; </a:t>
            </a:r>
            <a:r>
              <a:rPr lang="en-US" sz="1400" dirty="0" err="1"/>
              <a:t>Noise_Group</a:t>
            </a:r>
            <a:r>
              <a:rPr lang="en-US" sz="1400" dirty="0"/>
              <a:t>)</a:t>
            </a:r>
          </a:p>
          <a:p>
            <a:pPr marL="342900" indent="-342900">
              <a:buSzPct val="100000"/>
              <a:buChar char="•"/>
            </a:pPr>
            <a:r>
              <a:rPr lang="en-US" sz="1400" dirty="0"/>
              <a:t>Independent t‑tests (</a:t>
            </a:r>
            <a:r>
              <a:rPr lang="en-US" sz="1400" dirty="0" err="1"/>
              <a:t>door_open</a:t>
            </a:r>
            <a:r>
              <a:rPr lang="en-US" sz="1400" dirty="0"/>
              <a:t>, </a:t>
            </a:r>
            <a:r>
              <a:rPr lang="en-US" sz="1400" dirty="0" err="1"/>
              <a:t>motion_detected</a:t>
            </a:r>
            <a:r>
              <a:rPr lang="en-US" sz="1400" dirty="0"/>
              <a:t>)</a:t>
            </a:r>
            <a:endParaRPr lang="en-US" sz="1400" dirty="0">
              <a:solidFill>
                <a:srgbClr val="1E293B"/>
              </a:solidFill>
            </a:endParaRPr>
          </a:p>
          <a:p>
            <a:pPr marL="342900" indent="-342900">
              <a:buSzPct val="100000"/>
              <a:buChar char="•"/>
            </a:pPr>
            <a:r>
              <a:rPr lang="en-US" sz="1400" dirty="0"/>
              <a:t>Simple linear regression</a:t>
            </a:r>
            <a:endParaRPr lang="en-US" sz="1400" dirty="0">
              <a:solidFill>
                <a:srgbClr val="1E293B"/>
              </a:solidFill>
            </a:endParaRPr>
          </a:p>
          <a:p>
            <a:pPr marL="342900" indent="-342900">
              <a:buSzPct val="100000"/>
              <a:buChar char="•"/>
            </a:pPr>
            <a:r>
              <a:rPr lang="en-US" sz="1400" dirty="0"/>
              <a:t>Multiple linear regression (all external factors controlled)</a:t>
            </a:r>
          </a:p>
        </p:txBody>
      </p:sp>
      <p:sp>
        <p:nvSpPr>
          <p:cNvPr id="17" name="Shape 14"/>
          <p:cNvSpPr/>
          <p:nvPr/>
        </p:nvSpPr>
        <p:spPr>
          <a:xfrm>
            <a:off x="5137018" y="2601536"/>
            <a:ext cx="3611880" cy="1490472"/>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n-US" dirty="0"/>
          </a:p>
          <a:p>
            <a:endParaRPr lang="en-US" dirty="0"/>
          </a:p>
          <a:p>
            <a:endParaRPr lang="en-US" dirty="0"/>
          </a:p>
          <a:p>
            <a:endParaRPr lang="en-US" dirty="0"/>
          </a:p>
          <a:p>
            <a:endParaRPr lang="en-US" dirty="0"/>
          </a:p>
        </p:txBody>
      </p:sp>
      <p:sp>
        <p:nvSpPr>
          <p:cNvPr id="18" name="Text 15"/>
          <p:cNvSpPr/>
          <p:nvPr/>
        </p:nvSpPr>
        <p:spPr>
          <a:xfrm>
            <a:off x="5349240" y="2633473"/>
            <a:ext cx="3291840" cy="347472"/>
          </a:xfrm>
          <a:prstGeom prst="rect">
            <a:avLst/>
          </a:prstGeom>
          <a:noFill/>
          <a:ln/>
        </p:spPr>
        <p:txBody>
          <a:bodyPr wrap="square" rtlCol="0" anchor="ctr"/>
          <a:lstStyle/>
          <a:p>
            <a:pPr marL="0" indent="0">
              <a:buNone/>
            </a:pPr>
            <a:r>
              <a:rPr lang="en-US" sz="1200" b="1" dirty="0">
                <a:solidFill>
                  <a:srgbClr val="E9C46A"/>
                </a:solidFill>
              </a:rPr>
              <a:t>Decision rule</a:t>
            </a:r>
            <a:endParaRPr lang="en-US" sz="1200" dirty="0"/>
          </a:p>
        </p:txBody>
      </p:sp>
      <p:sp>
        <p:nvSpPr>
          <p:cNvPr id="19" name="Text 16"/>
          <p:cNvSpPr/>
          <p:nvPr/>
        </p:nvSpPr>
        <p:spPr>
          <a:xfrm>
            <a:off x="5349240" y="3127248"/>
            <a:ext cx="3291840" cy="640080"/>
          </a:xfrm>
          <a:prstGeom prst="rect">
            <a:avLst/>
          </a:prstGeom>
          <a:noFill/>
          <a:ln/>
        </p:spPr>
        <p:txBody>
          <a:bodyPr wrap="square" rtlCol="0" anchor="ctr"/>
          <a:lstStyle/>
          <a:p>
            <a:pPr marL="0" indent="0">
              <a:buNone/>
            </a:pPr>
            <a:r>
              <a:rPr lang="en-US" sz="1200" dirty="0">
                <a:solidFill>
                  <a:srgbClr val="FFFFFF"/>
                </a:solidFill>
              </a:rPr>
              <a:t>p &lt; 0.05 → Reject H₀</a:t>
            </a:r>
          </a:p>
          <a:p>
            <a:pPr marL="0" indent="0">
              <a:buNone/>
            </a:pPr>
            <a:endParaRPr lang="en-US" sz="1200" dirty="0"/>
          </a:p>
          <a:p>
            <a:pPr marL="0" indent="0">
              <a:buNone/>
            </a:pPr>
            <a:r>
              <a:rPr lang="en-US" sz="1200" dirty="0">
                <a:solidFill>
                  <a:srgbClr val="FFFFFF"/>
                </a:solidFill>
              </a:rPr>
              <a:t>p ≥ 0.05 → Retain H₀ (investigate further)</a:t>
            </a:r>
            <a:endParaRPr lang="en-US" sz="1200" dirty="0"/>
          </a:p>
        </p:txBody>
      </p:sp>
      <p:sp>
        <p:nvSpPr>
          <p:cNvPr id="20" name="Shape 17"/>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21" name="Text 18"/>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US"/>
          </a:p>
        </p:txBody>
      </p:sp>
      <p:sp>
        <p:nvSpPr>
          <p:cNvPr id="4" name="Text 2"/>
          <p:cNvSpPr/>
          <p:nvPr/>
        </p:nvSpPr>
        <p:spPr>
          <a:xfrm>
            <a:off x="365760" y="0"/>
            <a:ext cx="8503920" cy="685800"/>
          </a:xfrm>
          <a:prstGeom prst="rect">
            <a:avLst/>
          </a:prstGeom>
          <a:noFill/>
          <a:ln/>
        </p:spPr>
        <p:txBody>
          <a:bodyPr wrap="square" rtlCol="0" anchor="ctr"/>
          <a:lstStyle/>
          <a:p>
            <a:pPr marL="0" indent="0">
              <a:buNone/>
            </a:pPr>
            <a:r>
              <a:rPr lang="en-US" sz="2000" b="1" dirty="0">
                <a:solidFill>
                  <a:srgbClr val="FFFFFF"/>
                </a:solidFill>
              </a:rPr>
              <a:t>Inferential Analysis </a:t>
            </a:r>
            <a:endParaRPr lang="en-US" sz="2000" dirty="0"/>
          </a:p>
        </p:txBody>
      </p:sp>
      <p:sp>
        <p:nvSpPr>
          <p:cNvPr id="5" name="Shape 3"/>
          <p:cNvSpPr/>
          <p:nvPr/>
        </p:nvSpPr>
        <p:spPr>
          <a:xfrm>
            <a:off x="320041" y="804671"/>
            <a:ext cx="4032498" cy="1801437"/>
          </a:xfrm>
          <a:prstGeom prst="rect">
            <a:avLst/>
          </a:prstGeom>
          <a:solidFill>
            <a:schemeClr val="accent1">
              <a:lumMod val="20000"/>
              <a:lumOff val="80000"/>
            </a:schemeClr>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6" name="Shape 4"/>
          <p:cNvSpPr/>
          <p:nvPr/>
        </p:nvSpPr>
        <p:spPr>
          <a:xfrm>
            <a:off x="320040" y="804672"/>
            <a:ext cx="4023360" cy="64008"/>
          </a:xfrm>
          <a:prstGeom prst="rect">
            <a:avLst/>
          </a:prstGeom>
          <a:solidFill>
            <a:srgbClr val="94A3B8"/>
          </a:solidFill>
          <a:ln w="12700">
            <a:solidFill>
              <a:srgbClr val="94A3B8"/>
            </a:solidFill>
            <a:prstDash val="solid"/>
          </a:ln>
        </p:spPr>
        <p:txBody>
          <a:bodyPr/>
          <a:lstStyle/>
          <a:p>
            <a:endParaRPr lang="en-US"/>
          </a:p>
        </p:txBody>
      </p:sp>
      <p:sp>
        <p:nvSpPr>
          <p:cNvPr id="7" name="Text 5"/>
          <p:cNvSpPr/>
          <p:nvPr/>
        </p:nvSpPr>
        <p:spPr>
          <a:xfrm>
            <a:off x="457200" y="896112"/>
            <a:ext cx="3749040" cy="320040"/>
          </a:xfrm>
          <a:prstGeom prst="rect">
            <a:avLst/>
          </a:prstGeom>
          <a:noFill/>
          <a:ln/>
        </p:spPr>
        <p:txBody>
          <a:bodyPr wrap="square" rtlCol="0" anchor="ctr"/>
          <a:lstStyle/>
          <a:p>
            <a:pPr marL="0" indent="0">
              <a:buNone/>
            </a:pPr>
            <a:r>
              <a:rPr lang="en-US" sz="1150" b="1" dirty="0">
                <a:solidFill>
                  <a:schemeClr val="accent2"/>
                </a:solidFill>
              </a:rPr>
              <a:t>Correlation Analysis – Pearson(-1 to +1)</a:t>
            </a:r>
          </a:p>
        </p:txBody>
      </p:sp>
      <p:sp>
        <p:nvSpPr>
          <p:cNvPr id="8" name="Text 6"/>
          <p:cNvSpPr/>
          <p:nvPr/>
        </p:nvSpPr>
        <p:spPr>
          <a:xfrm>
            <a:off x="457200" y="1156716"/>
            <a:ext cx="3749040" cy="1449392"/>
          </a:xfrm>
          <a:prstGeom prst="rect">
            <a:avLst/>
          </a:prstGeom>
          <a:noFill/>
          <a:ln/>
        </p:spPr>
        <p:txBody>
          <a:bodyPr wrap="square" rtlCol="0" anchor="ctr"/>
          <a:lstStyle/>
          <a:p>
            <a:pPr marL="0" indent="0">
              <a:buNone/>
            </a:pPr>
            <a:r>
              <a:rPr lang="en-US" sz="1200" dirty="0">
                <a:solidFill>
                  <a:schemeClr val="accent1">
                    <a:lumMod val="75000"/>
                  </a:schemeClr>
                </a:solidFill>
              </a:rPr>
              <a:t>Service response time min </a:t>
            </a:r>
            <a:r>
              <a:rPr lang="en-US" sz="1200" dirty="0">
                <a:solidFill>
                  <a:srgbClr val="1E293B"/>
                </a:solidFill>
              </a:rPr>
              <a:t>Vs </a:t>
            </a:r>
            <a:r>
              <a:rPr lang="en-US" sz="1200" dirty="0">
                <a:solidFill>
                  <a:schemeClr val="accent1">
                    <a:lumMod val="75000"/>
                  </a:schemeClr>
                </a:solidFill>
              </a:rPr>
              <a:t>service quality score</a:t>
            </a:r>
          </a:p>
          <a:p>
            <a:pPr marL="0" indent="0">
              <a:buNone/>
            </a:pPr>
            <a:endParaRPr lang="en-US" sz="1200" dirty="0">
              <a:solidFill>
                <a:schemeClr val="accent1">
                  <a:lumMod val="75000"/>
                </a:schemeClr>
              </a:solidFill>
            </a:endParaRPr>
          </a:p>
          <a:p>
            <a:pPr marL="0" indent="0">
              <a:buNone/>
            </a:pPr>
            <a:r>
              <a:rPr lang="en-US" sz="1200" dirty="0">
                <a:solidFill>
                  <a:srgbClr val="FF0000"/>
                </a:solidFill>
              </a:rPr>
              <a:t>Pearson r = –0.60 → strong negative relationship</a:t>
            </a:r>
          </a:p>
          <a:p>
            <a:pPr marL="0" indent="0">
              <a:buNone/>
            </a:pPr>
            <a:r>
              <a:rPr lang="en-US" sz="1200" dirty="0">
                <a:solidFill>
                  <a:srgbClr val="FF0000"/>
                </a:solidFill>
              </a:rPr>
              <a:t>p &lt; 2.2e‑16 → Significant</a:t>
            </a:r>
          </a:p>
          <a:p>
            <a:pPr marL="0" indent="0">
              <a:buNone/>
            </a:pPr>
            <a:br>
              <a:rPr lang="en-US" sz="1200" dirty="0">
                <a:solidFill>
                  <a:srgbClr val="FF0000"/>
                </a:solidFill>
              </a:rPr>
            </a:br>
            <a:r>
              <a:rPr lang="en-US" sz="1200" dirty="0">
                <a:solidFill>
                  <a:schemeClr val="bg2">
                    <a:lumMod val="25000"/>
                  </a:schemeClr>
                </a:solidFill>
              </a:rPr>
              <a:t>service response time increases, customer confidence (quality score) tends to decrease.(reject H0)</a:t>
            </a:r>
          </a:p>
          <a:p>
            <a:pPr marL="0" indent="0">
              <a:buNone/>
            </a:pPr>
            <a:endParaRPr lang="en-US" sz="1200" dirty="0">
              <a:solidFill>
                <a:srgbClr val="FF0000"/>
              </a:solidFill>
            </a:endParaRPr>
          </a:p>
        </p:txBody>
      </p:sp>
      <p:sp>
        <p:nvSpPr>
          <p:cNvPr id="9" name="Shape 7"/>
          <p:cNvSpPr/>
          <p:nvPr/>
        </p:nvSpPr>
        <p:spPr>
          <a:xfrm>
            <a:off x="4818886" y="743701"/>
            <a:ext cx="4114802" cy="4165194"/>
          </a:xfrm>
          <a:prstGeom prst="rect">
            <a:avLst/>
          </a:prstGeom>
          <a:solidFill>
            <a:schemeClr val="accent2">
              <a:lumMod val="20000"/>
              <a:lumOff val="80000"/>
            </a:schemeClr>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10" name="Shape 8"/>
          <p:cNvSpPr/>
          <p:nvPr/>
        </p:nvSpPr>
        <p:spPr>
          <a:xfrm>
            <a:off x="4809747" y="743701"/>
            <a:ext cx="4069080" cy="64008"/>
          </a:xfrm>
          <a:prstGeom prst="rect">
            <a:avLst/>
          </a:prstGeom>
          <a:solidFill>
            <a:srgbClr val="0A9396"/>
          </a:solidFill>
          <a:ln w="12700">
            <a:solidFill>
              <a:srgbClr val="0A9396"/>
            </a:solidFill>
            <a:prstDash val="solid"/>
          </a:ln>
        </p:spPr>
        <p:txBody>
          <a:bodyPr/>
          <a:lstStyle/>
          <a:p>
            <a:endParaRPr lang="en-US"/>
          </a:p>
        </p:txBody>
      </p:sp>
      <p:sp>
        <p:nvSpPr>
          <p:cNvPr id="11" name="Text 9"/>
          <p:cNvSpPr/>
          <p:nvPr/>
        </p:nvSpPr>
        <p:spPr>
          <a:xfrm>
            <a:off x="4892040" y="896112"/>
            <a:ext cx="3749040" cy="320040"/>
          </a:xfrm>
          <a:prstGeom prst="rect">
            <a:avLst/>
          </a:prstGeom>
          <a:noFill/>
          <a:ln/>
        </p:spPr>
        <p:txBody>
          <a:bodyPr wrap="square" rtlCol="0" anchor="ctr"/>
          <a:lstStyle/>
          <a:p>
            <a:pPr marL="0" indent="0">
              <a:buNone/>
            </a:pPr>
            <a:r>
              <a:rPr lang="en-US" sz="1150" b="1" dirty="0">
                <a:solidFill>
                  <a:schemeClr val="accent2"/>
                </a:solidFill>
              </a:rPr>
              <a:t>One- way ANOVA -</a:t>
            </a:r>
            <a:endParaRPr lang="en-US" sz="1150" dirty="0">
              <a:solidFill>
                <a:schemeClr val="accent2"/>
              </a:solidFill>
            </a:endParaRPr>
          </a:p>
        </p:txBody>
      </p:sp>
      <p:sp>
        <p:nvSpPr>
          <p:cNvPr id="12" name="Text 10"/>
          <p:cNvSpPr/>
          <p:nvPr/>
        </p:nvSpPr>
        <p:spPr>
          <a:xfrm>
            <a:off x="4864609" y="1651585"/>
            <a:ext cx="4178808" cy="3279351"/>
          </a:xfrm>
          <a:prstGeom prst="rect">
            <a:avLst/>
          </a:prstGeom>
          <a:noFill/>
          <a:ln/>
        </p:spPr>
        <p:txBody>
          <a:bodyPr wrap="square" rtlCol="0" anchor="ctr"/>
          <a:lstStyle/>
          <a:p>
            <a:pPr marL="0" indent="0">
              <a:buNone/>
            </a:pPr>
            <a:r>
              <a:rPr lang="en-US" sz="1050" dirty="0">
                <a:solidFill>
                  <a:srgbClr val="0070C0"/>
                </a:solidFill>
              </a:rPr>
              <a:t>1.timeliness group (High / Medium / Low) </a:t>
            </a:r>
            <a:r>
              <a:rPr lang="en-US" sz="1050" dirty="0"/>
              <a:t>Vs</a:t>
            </a:r>
            <a:r>
              <a:rPr lang="en-US" sz="1050" dirty="0">
                <a:solidFill>
                  <a:srgbClr val="0070C0"/>
                </a:solidFill>
              </a:rPr>
              <a:t> service quality score</a:t>
            </a:r>
          </a:p>
          <a:p>
            <a:pPr marL="171450" indent="-171450">
              <a:buFont typeface="Arial" panose="020B0604020202020204" pitchFamily="34" charset="0"/>
              <a:buChar char="•"/>
            </a:pPr>
            <a:r>
              <a:rPr lang="en-US" sz="1050" dirty="0">
                <a:solidFill>
                  <a:srgbClr val="FF0000"/>
                </a:solidFill>
              </a:rPr>
              <a:t>F(2, 2997) = 699.5, p &lt; 2e‑16 	 → significant difference</a:t>
            </a:r>
            <a:br>
              <a:rPr lang="en-US" sz="1050" dirty="0">
                <a:solidFill>
                  <a:srgbClr val="FF0000"/>
                </a:solidFill>
              </a:rPr>
            </a:br>
            <a:endParaRPr lang="en-US" sz="1050" dirty="0">
              <a:solidFill>
                <a:schemeClr val="bg2">
                  <a:lumMod val="25000"/>
                </a:schemeClr>
              </a:solidFill>
            </a:endParaRPr>
          </a:p>
          <a:p>
            <a:pPr marL="171450" indent="-171450">
              <a:buFont typeface="Wingdings" panose="05000000000000000000" pitchFamily="2" charset="2"/>
              <a:buChar char="Ø"/>
            </a:pPr>
            <a:r>
              <a:rPr lang="en-US" sz="1050" dirty="0">
                <a:solidFill>
                  <a:srgbClr val="FF0000"/>
                </a:solidFill>
              </a:rPr>
              <a:t>Tukey HSD (all p &lt; 0.001):</a:t>
            </a:r>
            <a:br>
              <a:rPr lang="en-US" sz="1050" dirty="0">
                <a:solidFill>
                  <a:srgbClr val="FF0000"/>
                </a:solidFill>
              </a:rPr>
            </a:br>
            <a:endParaRPr lang="en-US" sz="1050" dirty="0">
              <a:solidFill>
                <a:srgbClr val="FF0000"/>
              </a:solidFill>
            </a:endParaRPr>
          </a:p>
          <a:p>
            <a:pPr marL="171450" indent="-171450">
              <a:buFont typeface="Arial" panose="020B0604020202020204" pitchFamily="34" charset="0"/>
              <a:buChar char="•"/>
            </a:pPr>
            <a:r>
              <a:rPr lang="en-US" sz="1050" dirty="0">
                <a:solidFill>
                  <a:schemeClr val="bg2">
                    <a:lumMod val="25000"/>
                  </a:schemeClr>
                </a:solidFill>
              </a:rPr>
              <a:t>Medium‑High = –5.69 (Medium scores 5.7 points lower than High)</a:t>
            </a:r>
          </a:p>
          <a:p>
            <a:pPr marL="171450" indent="-171450">
              <a:buFont typeface="Arial" panose="020B0604020202020204" pitchFamily="34" charset="0"/>
              <a:buChar char="•"/>
            </a:pPr>
            <a:endParaRPr lang="en-US" sz="1050" dirty="0">
              <a:solidFill>
                <a:schemeClr val="bg2">
                  <a:lumMod val="25000"/>
                </a:schemeClr>
              </a:solidFill>
            </a:endParaRPr>
          </a:p>
          <a:p>
            <a:pPr marL="171450" indent="-171450">
              <a:buFont typeface="Arial" panose="020B0604020202020204" pitchFamily="34" charset="0"/>
              <a:buChar char="•"/>
            </a:pPr>
            <a:r>
              <a:rPr lang="en-US" sz="1050" dirty="0">
                <a:solidFill>
                  <a:schemeClr val="bg2">
                    <a:lumMod val="25000"/>
                  </a:schemeClr>
                </a:solidFill>
              </a:rPr>
              <a:t>Low‑High = –12.69 (Low scores 12.7 points lower than High)</a:t>
            </a:r>
          </a:p>
          <a:p>
            <a:pPr marL="171450" indent="-171450">
              <a:buFont typeface="Arial" panose="020B0604020202020204" pitchFamily="34" charset="0"/>
              <a:buChar char="•"/>
            </a:pPr>
            <a:endParaRPr lang="en-US" sz="1050" dirty="0">
              <a:solidFill>
                <a:schemeClr val="bg2">
                  <a:lumMod val="25000"/>
                </a:schemeClr>
              </a:solidFill>
            </a:endParaRPr>
          </a:p>
          <a:p>
            <a:pPr marL="171450" indent="-171450">
              <a:buFont typeface="Arial" panose="020B0604020202020204" pitchFamily="34" charset="0"/>
              <a:buChar char="•"/>
            </a:pPr>
            <a:r>
              <a:rPr lang="en-US" sz="1050" dirty="0">
                <a:solidFill>
                  <a:schemeClr val="bg2">
                    <a:lumMod val="25000"/>
                  </a:schemeClr>
                </a:solidFill>
              </a:rPr>
              <a:t>Low‑Medium = –7.01 (Low scores 7.0 points lower than Medium)</a:t>
            </a:r>
            <a:br>
              <a:rPr lang="en-US" sz="1050" dirty="0">
                <a:solidFill>
                  <a:srgbClr val="FF0000"/>
                </a:solidFill>
              </a:rPr>
            </a:br>
            <a:endParaRPr lang="en-US" sz="1050" dirty="0">
              <a:solidFill>
                <a:srgbClr val="0070C0"/>
              </a:solidFill>
            </a:endParaRPr>
          </a:p>
          <a:p>
            <a:pPr marL="171450" indent="-171450">
              <a:buFont typeface="Arial" panose="020B0604020202020204" pitchFamily="34" charset="0"/>
              <a:buChar char="•"/>
            </a:pPr>
            <a:r>
              <a:rPr lang="en-US" sz="1050" dirty="0">
                <a:solidFill>
                  <a:srgbClr val="0070C0"/>
                </a:solidFill>
              </a:rPr>
              <a:t>2.noice group  (Quiet / Moderate / Noisy) </a:t>
            </a:r>
            <a:r>
              <a:rPr lang="en-US" sz="1050" dirty="0"/>
              <a:t>Vs </a:t>
            </a:r>
            <a:r>
              <a:rPr lang="en-US" sz="1050" dirty="0">
                <a:solidFill>
                  <a:srgbClr val="0070C0"/>
                </a:solidFill>
              </a:rPr>
              <a:t>service quality score</a:t>
            </a:r>
          </a:p>
          <a:p>
            <a:endParaRPr lang="en-US" sz="1050" dirty="0">
              <a:solidFill>
                <a:srgbClr val="0070C0"/>
              </a:solidFill>
            </a:endParaRPr>
          </a:p>
          <a:p>
            <a:r>
              <a:rPr lang="en-US" sz="1050" dirty="0">
                <a:solidFill>
                  <a:srgbClr val="FF0000"/>
                </a:solidFill>
              </a:rPr>
              <a:t>     F(2, 2997) = 76.33, p &lt; 0.001 → significant difference</a:t>
            </a:r>
          </a:p>
          <a:p>
            <a:endParaRPr lang="en-US" sz="1050" dirty="0">
              <a:solidFill>
                <a:srgbClr val="FF0000"/>
              </a:solidFill>
            </a:endParaRPr>
          </a:p>
          <a:p>
            <a:pPr marL="171450" indent="-171450">
              <a:buFont typeface="Wingdings" panose="05000000000000000000" pitchFamily="2" charset="2"/>
              <a:buChar char="Ø"/>
            </a:pPr>
            <a:r>
              <a:rPr lang="en-US" sz="1050" dirty="0">
                <a:solidFill>
                  <a:srgbClr val="FF0000"/>
                </a:solidFill>
              </a:rPr>
              <a:t>Tukey HSD (all p &lt; 0.001):</a:t>
            </a:r>
          </a:p>
          <a:p>
            <a:endParaRPr lang="en-US" sz="1050" dirty="0">
              <a:solidFill>
                <a:schemeClr val="tx1">
                  <a:lumMod val="85000"/>
                  <a:lumOff val="15000"/>
                </a:schemeClr>
              </a:solidFill>
            </a:endParaRPr>
          </a:p>
          <a:p>
            <a:endParaRPr lang="en-US" sz="1050" dirty="0">
              <a:solidFill>
                <a:schemeClr val="tx1">
                  <a:lumMod val="85000"/>
                  <a:lumOff val="15000"/>
                </a:schemeClr>
              </a:solidFill>
            </a:endParaRPr>
          </a:p>
          <a:p>
            <a:pPr marL="171450" indent="-171450">
              <a:buFont typeface="Arial" panose="020B0604020202020204" pitchFamily="34" charset="0"/>
              <a:buChar char="•"/>
            </a:pPr>
            <a:r>
              <a:rPr lang="en-US" sz="1050" dirty="0">
                <a:solidFill>
                  <a:schemeClr val="tx1">
                    <a:lumMod val="85000"/>
                    <a:lumOff val="15000"/>
                  </a:schemeClr>
                </a:solidFill>
              </a:rPr>
              <a:t>Moderate‑Quiet = –2.36</a:t>
            </a:r>
          </a:p>
          <a:p>
            <a:pPr marL="171450" indent="-171450">
              <a:buFont typeface="Arial" panose="020B0604020202020204" pitchFamily="34" charset="0"/>
              <a:buChar char="•"/>
            </a:pPr>
            <a:endParaRPr lang="en-US" sz="1050" dirty="0">
              <a:solidFill>
                <a:schemeClr val="tx1">
                  <a:lumMod val="85000"/>
                  <a:lumOff val="15000"/>
                </a:schemeClr>
              </a:solidFill>
            </a:endParaRPr>
          </a:p>
          <a:p>
            <a:pPr marL="171450" indent="-171450">
              <a:buFont typeface="Arial" panose="020B0604020202020204" pitchFamily="34" charset="0"/>
              <a:buChar char="•"/>
            </a:pPr>
            <a:r>
              <a:rPr lang="en-US" sz="1050" dirty="0">
                <a:solidFill>
                  <a:schemeClr val="tx1">
                    <a:lumMod val="85000"/>
                    <a:lumOff val="15000"/>
                  </a:schemeClr>
                </a:solidFill>
              </a:rPr>
              <a:t>Noisy‑Quiet = –4.99</a:t>
            </a:r>
          </a:p>
          <a:p>
            <a:pPr marL="171450" indent="-171450">
              <a:buFont typeface="Arial" panose="020B0604020202020204" pitchFamily="34" charset="0"/>
              <a:buChar char="•"/>
            </a:pPr>
            <a:endParaRPr lang="en-US" sz="1050" dirty="0">
              <a:solidFill>
                <a:schemeClr val="tx1">
                  <a:lumMod val="85000"/>
                  <a:lumOff val="15000"/>
                </a:schemeClr>
              </a:solidFill>
            </a:endParaRPr>
          </a:p>
          <a:p>
            <a:pPr marL="171450" indent="-171450">
              <a:buFont typeface="Arial" panose="020B0604020202020204" pitchFamily="34" charset="0"/>
              <a:buChar char="•"/>
            </a:pPr>
            <a:r>
              <a:rPr lang="en-US" sz="1050" dirty="0">
                <a:solidFill>
                  <a:schemeClr val="tx1">
                    <a:lumMod val="85000"/>
                    <a:lumOff val="15000"/>
                  </a:schemeClr>
                </a:solidFill>
              </a:rPr>
              <a:t>Noisy‑Moderate = –2.64</a:t>
            </a:r>
            <a:r>
              <a:rPr lang="en-US" sz="1050" dirty="0">
                <a:solidFill>
                  <a:schemeClr val="bg2">
                    <a:lumMod val="25000"/>
                  </a:schemeClr>
                </a:solidFill>
              </a:rPr>
              <a:t>.(reject H0)</a:t>
            </a:r>
          </a:p>
          <a:p>
            <a:br>
              <a:rPr lang="en-US" sz="1050" dirty="0">
                <a:solidFill>
                  <a:srgbClr val="0070C0"/>
                </a:solidFill>
              </a:rPr>
            </a:br>
            <a:br>
              <a:rPr lang="en-US" sz="1050" dirty="0">
                <a:solidFill>
                  <a:srgbClr val="0070C0"/>
                </a:solidFill>
              </a:rPr>
            </a:br>
            <a:br>
              <a:rPr lang="en-US" sz="1050" dirty="0">
                <a:solidFill>
                  <a:srgbClr val="0070C0"/>
                </a:solidFill>
              </a:rPr>
            </a:br>
            <a:endParaRPr lang="en-US" sz="1050" dirty="0">
              <a:solidFill>
                <a:srgbClr val="0070C0"/>
              </a:solidFill>
            </a:endParaRPr>
          </a:p>
        </p:txBody>
      </p:sp>
      <p:sp>
        <p:nvSpPr>
          <p:cNvPr id="20" name="Shape 17"/>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21" name="Text 18"/>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sp>
        <p:nvSpPr>
          <p:cNvPr id="15" name="TextBox 14">
            <a:extLst>
              <a:ext uri="{FF2B5EF4-FFF2-40B4-BE49-F238E27FC236}">
                <a16:creationId xmlns:a16="http://schemas.microsoft.com/office/drawing/2014/main" id="{9EF9020D-8D7C-4E6B-A4AA-A02497C0D99A}"/>
              </a:ext>
            </a:extLst>
          </p:cNvPr>
          <p:cNvSpPr txBox="1"/>
          <p:nvPr/>
        </p:nvSpPr>
        <p:spPr>
          <a:xfrm>
            <a:off x="320040" y="2719930"/>
            <a:ext cx="4005075" cy="2108269"/>
          </a:xfrm>
          <a:prstGeom prst="rect">
            <a:avLst/>
          </a:prstGeom>
          <a:solidFill>
            <a:schemeClr val="bg1">
              <a:lumMod val="95000"/>
            </a:schemeClr>
          </a:solidFill>
          <a:ln w="12700">
            <a:solidFill>
              <a:schemeClr val="accent2"/>
            </a:solidFill>
          </a:ln>
        </p:spPr>
        <p:txBody>
          <a:bodyPr wrap="square" rtlCol="0">
            <a:spAutoFit/>
          </a:bodyPr>
          <a:lstStyle/>
          <a:p>
            <a:pPr algn="l"/>
            <a:r>
              <a:rPr lang="en-US" sz="1050" b="1" i="0" dirty="0">
                <a:solidFill>
                  <a:schemeClr val="tx1">
                    <a:lumMod val="85000"/>
                    <a:lumOff val="15000"/>
                  </a:schemeClr>
                </a:solidFill>
                <a:effectLst/>
                <a:latin typeface="quote-cjk-patch"/>
              </a:rPr>
              <a:t>ANOVA Interpretation</a:t>
            </a:r>
            <a:br>
              <a:rPr lang="en-US" sz="1050" i="0" dirty="0">
                <a:solidFill>
                  <a:schemeClr val="tx1">
                    <a:lumMod val="85000"/>
                    <a:lumOff val="15000"/>
                  </a:schemeClr>
                </a:solidFill>
                <a:effectLst/>
                <a:latin typeface="quote-cjk-patch"/>
              </a:rPr>
            </a:br>
            <a:endParaRPr lang="en-US" sz="1000" i="0" dirty="0">
              <a:solidFill>
                <a:schemeClr val="tx1">
                  <a:lumMod val="85000"/>
                  <a:lumOff val="15000"/>
                </a:schemeClr>
              </a:solidFill>
              <a:effectLst/>
              <a:latin typeface="quote-cjk-patch"/>
            </a:endParaRPr>
          </a:p>
          <a:p>
            <a:pPr algn="l">
              <a:buFont typeface="Arial" panose="020B0604020202020204" pitchFamily="34" charset="0"/>
              <a:buChar char="•"/>
            </a:pPr>
            <a:r>
              <a:rPr lang="en-US" sz="1000" b="0" i="0" dirty="0">
                <a:solidFill>
                  <a:schemeClr val="tx1">
                    <a:lumMod val="85000"/>
                    <a:lumOff val="15000"/>
                  </a:schemeClr>
                </a:solidFill>
                <a:effectLst/>
                <a:latin typeface="quote-cjk-patch"/>
              </a:rPr>
              <a:t>Customers in the </a:t>
            </a:r>
            <a:r>
              <a:rPr lang="en-US" sz="1000" b="1" i="0" dirty="0">
                <a:solidFill>
                  <a:schemeClr val="tx1">
                    <a:lumMod val="85000"/>
                    <a:lumOff val="15000"/>
                  </a:schemeClr>
                </a:solidFill>
                <a:effectLst/>
                <a:latin typeface="quote-cjk-patch"/>
              </a:rPr>
              <a:t>High</a:t>
            </a:r>
            <a:r>
              <a:rPr lang="en-US" sz="1000" b="0" i="0" dirty="0">
                <a:solidFill>
                  <a:schemeClr val="tx1">
                    <a:lumMod val="85000"/>
                    <a:lumOff val="15000"/>
                  </a:schemeClr>
                </a:solidFill>
                <a:effectLst/>
                <a:latin typeface="quote-cjk-patch"/>
              </a:rPr>
              <a:t> timeliness group report significantly higher satisfaction than those in Medium or Low groups.</a:t>
            </a:r>
            <a:br>
              <a:rPr lang="en-US" sz="1000" b="0" i="0" dirty="0">
                <a:solidFill>
                  <a:schemeClr val="tx1">
                    <a:lumMod val="85000"/>
                    <a:lumOff val="15000"/>
                  </a:schemeClr>
                </a:solidFill>
                <a:effectLst/>
                <a:latin typeface="quote-cjk-patch"/>
              </a:rPr>
            </a:br>
            <a:endParaRPr lang="en-US" sz="1000" b="0" i="0" dirty="0">
              <a:solidFill>
                <a:schemeClr val="tx1">
                  <a:lumMod val="85000"/>
                  <a:lumOff val="15000"/>
                </a:schemeClr>
              </a:solidFill>
              <a:effectLst/>
              <a:latin typeface="quote-cjk-patch"/>
            </a:endParaRPr>
          </a:p>
          <a:p>
            <a:pPr algn="l">
              <a:buFont typeface="Arial" panose="020B0604020202020204" pitchFamily="34" charset="0"/>
              <a:buChar char="•"/>
            </a:pPr>
            <a:r>
              <a:rPr lang="en-US" sz="1000" b="1" i="0" dirty="0">
                <a:solidFill>
                  <a:schemeClr val="tx1">
                    <a:lumMod val="85000"/>
                    <a:lumOff val="15000"/>
                  </a:schemeClr>
                </a:solidFill>
                <a:effectLst/>
                <a:latin typeface="quote-cjk-patch"/>
              </a:rPr>
              <a:t>Quiet</a:t>
            </a:r>
            <a:r>
              <a:rPr lang="en-US" sz="1000" b="0" i="0" dirty="0">
                <a:solidFill>
                  <a:schemeClr val="tx1">
                    <a:lumMod val="85000"/>
                    <a:lumOff val="15000"/>
                  </a:schemeClr>
                </a:solidFill>
                <a:effectLst/>
                <a:latin typeface="quote-cjk-patch"/>
              </a:rPr>
              <a:t> rooms show the highest satisfaction; noise significantly reduces confidence.</a:t>
            </a:r>
            <a:br>
              <a:rPr lang="en-US" sz="1000" b="0" i="0" dirty="0">
                <a:solidFill>
                  <a:schemeClr val="tx1">
                    <a:lumMod val="85000"/>
                    <a:lumOff val="15000"/>
                  </a:schemeClr>
                </a:solidFill>
                <a:effectLst/>
                <a:latin typeface="quote-cjk-patch"/>
              </a:rPr>
            </a:br>
            <a:endParaRPr lang="en-US" sz="1000" b="0" i="0" dirty="0">
              <a:solidFill>
                <a:schemeClr val="tx1">
                  <a:lumMod val="85000"/>
                  <a:lumOff val="15000"/>
                </a:schemeClr>
              </a:solidFill>
              <a:effectLst/>
              <a:latin typeface="quote-cjk-patch"/>
            </a:endParaRPr>
          </a:p>
          <a:p>
            <a:pPr algn="l">
              <a:buFont typeface="Arial" panose="020B0604020202020204" pitchFamily="34" charset="0"/>
              <a:buChar char="•"/>
            </a:pPr>
            <a:r>
              <a:rPr lang="en-US" sz="1000" b="0" i="0" dirty="0">
                <a:solidFill>
                  <a:schemeClr val="tx1">
                    <a:lumMod val="85000"/>
                    <a:lumOff val="15000"/>
                  </a:schemeClr>
                </a:solidFill>
                <a:effectLst/>
                <a:latin typeface="quote-cjk-patch"/>
              </a:rPr>
              <a:t>Both results support rejecting H₀ – timely updates (and quiet environments) matter.</a:t>
            </a:r>
            <a:br>
              <a:rPr lang="en-US" sz="1000" b="0" i="0" dirty="0">
                <a:solidFill>
                  <a:schemeClr val="tx1">
                    <a:lumMod val="85000"/>
                    <a:lumOff val="15000"/>
                  </a:schemeClr>
                </a:solidFill>
                <a:effectLst/>
                <a:latin typeface="quote-cjk-patch"/>
              </a:rPr>
            </a:br>
            <a:endParaRPr lang="en-US" sz="1000" b="0" i="0" dirty="0">
              <a:solidFill>
                <a:schemeClr val="tx1">
                  <a:lumMod val="85000"/>
                  <a:lumOff val="15000"/>
                </a:schemeClr>
              </a:solidFill>
              <a:effectLst/>
              <a:latin typeface="quote-cjk-patch"/>
            </a:endParaRPr>
          </a:p>
          <a:p>
            <a:pPr algn="l">
              <a:buFont typeface="Arial" panose="020B0604020202020204" pitchFamily="34" charset="0"/>
              <a:buChar char="•"/>
            </a:pPr>
            <a:r>
              <a:rPr lang="en-US" sz="1000" b="1" i="0" dirty="0">
                <a:solidFill>
                  <a:schemeClr val="tx1">
                    <a:lumMod val="85000"/>
                    <a:lumOff val="15000"/>
                  </a:schemeClr>
                </a:solidFill>
                <a:effectLst/>
                <a:latin typeface="quote-cjk-patch"/>
              </a:rPr>
              <a:t>The order is:</a:t>
            </a:r>
            <a:br>
              <a:rPr lang="en-US" sz="1000" dirty="0">
                <a:solidFill>
                  <a:schemeClr val="tx1">
                    <a:lumMod val="85000"/>
                    <a:lumOff val="15000"/>
                  </a:schemeClr>
                </a:solidFill>
              </a:rPr>
            </a:br>
            <a:r>
              <a:rPr lang="en-US" sz="1000" b="1" i="0" dirty="0">
                <a:solidFill>
                  <a:schemeClr val="tx1">
                    <a:lumMod val="85000"/>
                    <a:lumOff val="15000"/>
                  </a:schemeClr>
                </a:solidFill>
                <a:effectLst/>
                <a:latin typeface="quote-cjk-patch"/>
              </a:rPr>
              <a:t>Quiet &gt; Moderate &gt; Noisy</a:t>
            </a:r>
            <a:r>
              <a:rPr lang="en-US" sz="1000" b="0" i="0" dirty="0">
                <a:solidFill>
                  <a:schemeClr val="tx1">
                    <a:lumMod val="85000"/>
                    <a:lumOff val="15000"/>
                  </a:schemeClr>
                </a:solidFill>
                <a:effectLst/>
                <a:latin typeface="quote-cjk-patch"/>
              </a:rPr>
              <a:t> (and the gaps are statistically significant</a:t>
            </a:r>
            <a:r>
              <a:rPr lang="en-US" sz="1050" b="0" i="0" dirty="0">
                <a:solidFill>
                  <a:schemeClr val="tx1">
                    <a:lumMod val="85000"/>
                    <a:lumOff val="15000"/>
                  </a:schemeClr>
                </a:solidFill>
                <a:effectLst/>
                <a:latin typeface="quote-cjk-patch"/>
              </a:rPr>
              <a:t>)</a:t>
            </a:r>
          </a:p>
        </p:txBody>
      </p:sp>
    </p:spTree>
    <p:extLst>
      <p:ext uri="{BB962C8B-B14F-4D97-AF65-F5344CB8AC3E}">
        <p14:creationId xmlns:p14="http://schemas.microsoft.com/office/powerpoint/2010/main" val="3380214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rgbClr val="0070C0"/>
          </a:solidFill>
          <a:ln w="12700">
            <a:solidFill>
              <a:srgbClr val="0A9396"/>
            </a:solidFill>
            <a:prstDash val="solid"/>
          </a:ln>
        </p:spPr>
        <p:txBody>
          <a:bodyPr/>
          <a:lstStyle/>
          <a:p>
            <a:endParaRPr lang="en-US"/>
          </a:p>
        </p:txBody>
      </p:sp>
      <p:sp>
        <p:nvSpPr>
          <p:cNvPr id="4" name="Text 2"/>
          <p:cNvSpPr/>
          <p:nvPr/>
        </p:nvSpPr>
        <p:spPr>
          <a:xfrm>
            <a:off x="365760" y="0"/>
            <a:ext cx="8503920" cy="685800"/>
          </a:xfrm>
          <a:prstGeom prst="rect">
            <a:avLst/>
          </a:prstGeom>
          <a:noFill/>
          <a:ln/>
        </p:spPr>
        <p:txBody>
          <a:bodyPr wrap="square" rtlCol="0" anchor="ctr"/>
          <a:lstStyle/>
          <a:p>
            <a:pPr marL="0" indent="0">
              <a:buNone/>
            </a:pPr>
            <a:r>
              <a:rPr lang="en-US" sz="2000" b="1" dirty="0">
                <a:solidFill>
                  <a:srgbClr val="FFFFFF"/>
                </a:solidFill>
              </a:rPr>
              <a:t>Inferential Analysis </a:t>
            </a:r>
            <a:endParaRPr lang="en-US" sz="2000" dirty="0"/>
          </a:p>
        </p:txBody>
      </p:sp>
      <p:sp>
        <p:nvSpPr>
          <p:cNvPr id="9" name="Shape 7"/>
          <p:cNvSpPr/>
          <p:nvPr/>
        </p:nvSpPr>
        <p:spPr>
          <a:xfrm>
            <a:off x="274320" y="896112"/>
            <a:ext cx="3959353" cy="3439679"/>
          </a:xfrm>
          <a:prstGeom prst="rect">
            <a:avLst/>
          </a:prstGeom>
          <a:solidFill>
            <a:schemeClr val="accent5">
              <a:lumMod val="20000"/>
              <a:lumOff val="80000"/>
            </a:schemeClr>
          </a:solidFill>
          <a:ln w="12700">
            <a:solidFill>
              <a:srgbClr val="00B0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10" name="Shape 8"/>
          <p:cNvSpPr/>
          <p:nvPr/>
        </p:nvSpPr>
        <p:spPr>
          <a:xfrm>
            <a:off x="288036" y="860237"/>
            <a:ext cx="3931919" cy="45719"/>
          </a:xfrm>
          <a:prstGeom prst="rect">
            <a:avLst/>
          </a:prstGeom>
          <a:solidFill>
            <a:srgbClr val="0A9396"/>
          </a:solidFill>
          <a:ln w="12700">
            <a:solidFill>
              <a:srgbClr val="0A9396"/>
            </a:solidFill>
            <a:prstDash val="solid"/>
          </a:ln>
        </p:spPr>
        <p:txBody>
          <a:bodyPr/>
          <a:lstStyle/>
          <a:p>
            <a:endParaRPr lang="en-US"/>
          </a:p>
        </p:txBody>
      </p:sp>
      <p:sp>
        <p:nvSpPr>
          <p:cNvPr id="11" name="Text 9"/>
          <p:cNvSpPr/>
          <p:nvPr/>
        </p:nvSpPr>
        <p:spPr>
          <a:xfrm>
            <a:off x="301754" y="896112"/>
            <a:ext cx="3749040" cy="320040"/>
          </a:xfrm>
          <a:prstGeom prst="rect">
            <a:avLst/>
          </a:prstGeom>
          <a:noFill/>
          <a:ln/>
        </p:spPr>
        <p:txBody>
          <a:bodyPr wrap="square" rtlCol="0" anchor="ctr"/>
          <a:lstStyle/>
          <a:p>
            <a:endParaRPr lang="en-US" sz="1400" b="1" dirty="0">
              <a:solidFill>
                <a:schemeClr val="accent2"/>
              </a:solidFill>
            </a:endParaRPr>
          </a:p>
          <a:p>
            <a:r>
              <a:rPr lang="en-US" sz="1400" b="1" dirty="0">
                <a:solidFill>
                  <a:schemeClr val="accent2"/>
                </a:solidFill>
              </a:rPr>
              <a:t>T-tests</a:t>
            </a:r>
            <a:endParaRPr lang="en-US" sz="1150" b="1" dirty="0">
              <a:solidFill>
                <a:schemeClr val="accent2"/>
              </a:solidFill>
            </a:endParaRPr>
          </a:p>
          <a:p>
            <a:pPr marL="0" indent="0">
              <a:buNone/>
            </a:pPr>
            <a:endParaRPr lang="en-US" sz="1150" dirty="0">
              <a:solidFill>
                <a:schemeClr val="accent2"/>
              </a:solidFill>
            </a:endParaRPr>
          </a:p>
        </p:txBody>
      </p:sp>
      <p:sp>
        <p:nvSpPr>
          <p:cNvPr id="12" name="Text 10"/>
          <p:cNvSpPr/>
          <p:nvPr/>
        </p:nvSpPr>
        <p:spPr>
          <a:xfrm>
            <a:off x="269750" y="1702184"/>
            <a:ext cx="4009644" cy="2581079"/>
          </a:xfrm>
          <a:prstGeom prst="rect">
            <a:avLst/>
          </a:prstGeom>
          <a:noFill/>
          <a:ln/>
        </p:spPr>
        <p:txBody>
          <a:bodyPr wrap="square" rtlCol="0" anchor="ctr"/>
          <a:lstStyle/>
          <a:p>
            <a:pPr marL="0" indent="0">
              <a:buNone/>
            </a:pPr>
            <a:r>
              <a:rPr lang="en-US" sz="1050" dirty="0">
                <a:solidFill>
                  <a:srgbClr val="0070C0"/>
                </a:solidFill>
              </a:rPr>
              <a:t>1. door open </a:t>
            </a:r>
            <a:r>
              <a:rPr lang="en-US" sz="1050" dirty="0"/>
              <a:t>Vs</a:t>
            </a:r>
            <a:r>
              <a:rPr lang="en-US" sz="1050" dirty="0">
                <a:solidFill>
                  <a:srgbClr val="0070C0"/>
                </a:solidFill>
              </a:rPr>
              <a:t> service quality score</a:t>
            </a:r>
          </a:p>
          <a:p>
            <a:pPr marL="171450" indent="-171450">
              <a:buFont typeface="Arial" panose="020B0604020202020204" pitchFamily="34" charset="0"/>
              <a:buChar char="•"/>
            </a:pPr>
            <a:r>
              <a:rPr lang="en-US" sz="1050" dirty="0">
                <a:solidFill>
                  <a:srgbClr val="FF0000"/>
                </a:solidFill>
              </a:rPr>
              <a:t>Group 0 (closed): Mean = 69.83</a:t>
            </a:r>
          </a:p>
          <a:p>
            <a:pPr marL="171450" indent="-171450">
              <a:buFont typeface="Arial" panose="020B0604020202020204" pitchFamily="34" charset="0"/>
              <a:buChar char="•"/>
            </a:pPr>
            <a:endParaRPr lang="en-US" sz="1050" dirty="0">
              <a:solidFill>
                <a:srgbClr val="FF0000"/>
              </a:solidFill>
            </a:endParaRPr>
          </a:p>
          <a:p>
            <a:pPr marL="171450" indent="-171450">
              <a:buFont typeface="Arial" panose="020B0604020202020204" pitchFamily="34" charset="0"/>
              <a:buChar char="•"/>
            </a:pPr>
            <a:r>
              <a:rPr lang="en-US" sz="1050" dirty="0">
                <a:solidFill>
                  <a:srgbClr val="FF0000"/>
                </a:solidFill>
              </a:rPr>
              <a:t>Group 1 (open): Mean = 69.41</a:t>
            </a:r>
          </a:p>
          <a:p>
            <a:pPr marL="171450" indent="-171450">
              <a:buFont typeface="Arial" panose="020B0604020202020204" pitchFamily="34" charset="0"/>
              <a:buChar char="•"/>
            </a:pPr>
            <a:r>
              <a:rPr lang="en-US" sz="1050" dirty="0">
                <a:solidFill>
                  <a:srgbClr val="FF0000"/>
                </a:solidFill>
              </a:rPr>
              <a:t>t(2997.8) = 1.34, p = 0.18 → Not significant</a:t>
            </a:r>
          </a:p>
          <a:p>
            <a:pPr marL="171450" indent="-171450">
              <a:buFont typeface="Arial" panose="020B0604020202020204" pitchFamily="34" charset="0"/>
              <a:buChar char="•"/>
            </a:pPr>
            <a:r>
              <a:rPr lang="en-US" sz="1050" dirty="0">
                <a:solidFill>
                  <a:srgbClr val="FF0000"/>
                </a:solidFill>
              </a:rPr>
              <a:t>Door status does not significantly affect customer confidence.</a:t>
            </a:r>
            <a:br>
              <a:rPr lang="en-US" sz="1050" dirty="0">
                <a:solidFill>
                  <a:srgbClr val="FF0000"/>
                </a:solidFill>
              </a:rPr>
            </a:br>
            <a:br>
              <a:rPr lang="en-US" sz="1050" dirty="0">
                <a:solidFill>
                  <a:srgbClr val="FF0000"/>
                </a:solidFill>
              </a:rPr>
            </a:br>
            <a:endParaRPr lang="en-US" sz="1050" dirty="0">
              <a:solidFill>
                <a:srgbClr val="0070C0"/>
              </a:solidFill>
            </a:endParaRPr>
          </a:p>
          <a:p>
            <a:pPr marL="171450" indent="-171450">
              <a:buFont typeface="Arial" panose="020B0604020202020204" pitchFamily="34" charset="0"/>
              <a:buChar char="•"/>
            </a:pPr>
            <a:r>
              <a:rPr lang="en-US" sz="1050" dirty="0">
                <a:solidFill>
                  <a:srgbClr val="0070C0"/>
                </a:solidFill>
              </a:rPr>
              <a:t>2. motion detected(Quiet / Moderate / Noisy) </a:t>
            </a:r>
            <a:r>
              <a:rPr lang="en-US" sz="1050" dirty="0"/>
              <a:t>Vs </a:t>
            </a:r>
            <a:r>
              <a:rPr lang="en-US" sz="1050" dirty="0">
                <a:solidFill>
                  <a:srgbClr val="0070C0"/>
                </a:solidFill>
              </a:rPr>
              <a:t>service quality score</a:t>
            </a:r>
          </a:p>
          <a:p>
            <a:endParaRPr lang="en-US" sz="1050" dirty="0">
              <a:solidFill>
                <a:srgbClr val="0070C0"/>
              </a:solidFill>
            </a:endParaRPr>
          </a:p>
          <a:p>
            <a:pPr marL="171450" indent="-171450">
              <a:buFont typeface="Arial" panose="020B0604020202020204" pitchFamily="34" charset="0"/>
              <a:buChar char="•"/>
            </a:pPr>
            <a:r>
              <a:rPr lang="en-US" sz="1050" dirty="0">
                <a:solidFill>
                  <a:srgbClr val="FF0000"/>
                </a:solidFill>
              </a:rPr>
              <a:t>Group 0 (no motion): Mean = 68.57</a:t>
            </a:r>
          </a:p>
          <a:p>
            <a:pPr marL="171450" indent="-171450">
              <a:buFont typeface="Arial" panose="020B0604020202020204" pitchFamily="34" charset="0"/>
              <a:buChar char="•"/>
            </a:pPr>
            <a:endParaRPr lang="en-US" sz="1050" dirty="0">
              <a:solidFill>
                <a:srgbClr val="FF0000"/>
              </a:solidFill>
            </a:endParaRPr>
          </a:p>
          <a:p>
            <a:pPr marL="171450" indent="-171450">
              <a:buFont typeface="Arial" panose="020B0604020202020204" pitchFamily="34" charset="0"/>
              <a:buChar char="•"/>
            </a:pPr>
            <a:r>
              <a:rPr lang="en-US" sz="1050" dirty="0">
                <a:solidFill>
                  <a:srgbClr val="FF0000"/>
                </a:solidFill>
              </a:rPr>
              <a:t>Group 1 (motion): Mean = 70.71</a:t>
            </a:r>
          </a:p>
          <a:p>
            <a:pPr marL="171450" indent="-171450">
              <a:buFont typeface="Arial" panose="020B0604020202020204" pitchFamily="34" charset="0"/>
              <a:buChar char="•"/>
            </a:pPr>
            <a:endParaRPr lang="en-US" sz="1050" dirty="0">
              <a:solidFill>
                <a:srgbClr val="FF0000"/>
              </a:solidFill>
            </a:endParaRPr>
          </a:p>
          <a:p>
            <a:pPr marL="171450" indent="-171450">
              <a:buFont typeface="Arial" panose="020B0604020202020204" pitchFamily="34" charset="0"/>
              <a:buChar char="•"/>
            </a:pPr>
            <a:r>
              <a:rPr lang="en-US" sz="1050" dirty="0">
                <a:solidFill>
                  <a:srgbClr val="FF0000"/>
                </a:solidFill>
              </a:rPr>
              <a:t>t(2995.2) = –6.89, p &lt; 0.001 → Significant</a:t>
            </a:r>
          </a:p>
          <a:p>
            <a:pPr marL="171450" indent="-171450">
              <a:buFont typeface="Arial" panose="020B0604020202020204" pitchFamily="34" charset="0"/>
              <a:buChar char="•"/>
            </a:pPr>
            <a:endParaRPr lang="en-US" sz="1050" dirty="0">
              <a:solidFill>
                <a:srgbClr val="FF0000"/>
              </a:solidFill>
            </a:endParaRPr>
          </a:p>
          <a:p>
            <a:pPr marL="171450" indent="-171450">
              <a:buFont typeface="Arial" panose="020B0604020202020204" pitchFamily="34" charset="0"/>
              <a:buChar char="•"/>
            </a:pPr>
            <a:r>
              <a:rPr lang="en-US" sz="1050" dirty="0">
                <a:solidFill>
                  <a:srgbClr val="FF0000"/>
                </a:solidFill>
              </a:rPr>
              <a:t>Occupied rooms (motion = 1) report slightly higher satisfaction.(reject H0)</a:t>
            </a:r>
            <a:br>
              <a:rPr lang="en-US" sz="1050" dirty="0">
                <a:solidFill>
                  <a:srgbClr val="0070C0"/>
                </a:solidFill>
              </a:rPr>
            </a:br>
            <a:br>
              <a:rPr lang="en-US" sz="1050" dirty="0">
                <a:solidFill>
                  <a:srgbClr val="0070C0"/>
                </a:solidFill>
              </a:rPr>
            </a:br>
            <a:br>
              <a:rPr lang="en-US" sz="1050" dirty="0">
                <a:solidFill>
                  <a:srgbClr val="0070C0"/>
                </a:solidFill>
              </a:rPr>
            </a:br>
            <a:endParaRPr lang="en-US" sz="1050" dirty="0">
              <a:solidFill>
                <a:srgbClr val="0070C0"/>
              </a:solidFill>
            </a:endParaRPr>
          </a:p>
        </p:txBody>
      </p:sp>
      <p:sp>
        <p:nvSpPr>
          <p:cNvPr id="20" name="Shape 17"/>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21" name="Text 18"/>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pic>
        <p:nvPicPr>
          <p:cNvPr id="14" name="Picture 13">
            <a:extLst>
              <a:ext uri="{FF2B5EF4-FFF2-40B4-BE49-F238E27FC236}">
                <a16:creationId xmlns:a16="http://schemas.microsoft.com/office/drawing/2014/main" id="{015F8109-915D-4BBE-A60A-CE1DCB205A2F}"/>
              </a:ext>
            </a:extLst>
          </p:cNvPr>
          <p:cNvPicPr>
            <a:picLocks noChangeAspect="1"/>
          </p:cNvPicPr>
          <p:nvPr/>
        </p:nvPicPr>
        <p:blipFill>
          <a:blip r:embed="rId3"/>
          <a:stretch>
            <a:fillRect/>
          </a:stretch>
        </p:blipFill>
        <p:spPr>
          <a:xfrm>
            <a:off x="4306828" y="860238"/>
            <a:ext cx="4576568" cy="3475554"/>
          </a:xfrm>
          <a:prstGeom prst="rect">
            <a:avLst/>
          </a:prstGeom>
        </p:spPr>
      </p:pic>
    </p:spTree>
    <p:extLst>
      <p:ext uri="{BB962C8B-B14F-4D97-AF65-F5344CB8AC3E}">
        <p14:creationId xmlns:p14="http://schemas.microsoft.com/office/powerpoint/2010/main" val="1873534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chemeClr val="accent5">
              <a:lumMod val="75000"/>
            </a:schemeClr>
          </a:solidFill>
          <a:ln w="12700">
            <a:solidFill>
              <a:srgbClr val="E76F51"/>
            </a:solidFill>
            <a:prstDash val="solid"/>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buNone/>
            </a:pPr>
            <a:r>
              <a:rPr lang="en-US" sz="2000" b="1" dirty="0">
                <a:solidFill>
                  <a:srgbClr val="FFFFFF"/>
                </a:solidFill>
              </a:rPr>
              <a:t>Predictive Model</a:t>
            </a:r>
            <a:endParaRPr lang="en-US" sz="2000" dirty="0"/>
          </a:p>
        </p:txBody>
      </p:sp>
      <p:sp>
        <p:nvSpPr>
          <p:cNvPr id="5" name="Shape 3"/>
          <p:cNvSpPr/>
          <p:nvPr/>
        </p:nvSpPr>
        <p:spPr>
          <a:xfrm>
            <a:off x="320040" y="804672"/>
            <a:ext cx="4160520" cy="115378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20040" y="804672"/>
            <a:ext cx="4160520" cy="457200"/>
          </a:xfrm>
          <a:prstGeom prst="rect">
            <a:avLst/>
          </a:prstGeom>
          <a:solidFill>
            <a:srgbClr val="0A9396"/>
          </a:solidFill>
          <a:ln w="12700">
            <a:solidFill>
              <a:srgbClr val="0A9396"/>
            </a:solidFill>
            <a:prstDash val="solid"/>
          </a:ln>
        </p:spPr>
        <p:txBody>
          <a:bodyPr/>
          <a:lstStyle/>
          <a:p>
            <a:endParaRPr lang="en-US"/>
          </a:p>
        </p:txBody>
      </p:sp>
      <p:sp>
        <p:nvSpPr>
          <p:cNvPr id="7" name="Text 5"/>
          <p:cNvSpPr/>
          <p:nvPr/>
        </p:nvSpPr>
        <p:spPr>
          <a:xfrm>
            <a:off x="457200" y="804672"/>
            <a:ext cx="3840480" cy="457200"/>
          </a:xfrm>
          <a:prstGeom prst="rect">
            <a:avLst/>
          </a:prstGeom>
          <a:noFill/>
          <a:ln/>
        </p:spPr>
        <p:txBody>
          <a:bodyPr wrap="square" rtlCol="0" anchor="ctr"/>
          <a:lstStyle/>
          <a:p>
            <a:pPr marL="0" indent="0">
              <a:buNone/>
            </a:pPr>
            <a:r>
              <a:rPr lang="en-US" sz="1300" b="1" dirty="0">
                <a:solidFill>
                  <a:srgbClr val="FFFFFF"/>
                </a:solidFill>
              </a:rPr>
              <a:t>Linear Regression</a:t>
            </a:r>
            <a:endParaRPr lang="en-US" sz="1300" dirty="0"/>
          </a:p>
        </p:txBody>
      </p:sp>
      <p:sp>
        <p:nvSpPr>
          <p:cNvPr id="8" name="Text 6"/>
          <p:cNvSpPr/>
          <p:nvPr/>
        </p:nvSpPr>
        <p:spPr>
          <a:xfrm>
            <a:off x="365760" y="1345806"/>
            <a:ext cx="3840480" cy="1280160"/>
          </a:xfrm>
          <a:prstGeom prst="rect">
            <a:avLst/>
          </a:prstGeom>
          <a:noFill/>
          <a:ln/>
        </p:spPr>
        <p:txBody>
          <a:bodyPr wrap="square" rtlCol="0" anchor="t"/>
          <a:lstStyle/>
          <a:p>
            <a:pPr marL="0" indent="0">
              <a:buNone/>
            </a:pPr>
            <a:r>
              <a:rPr lang="en-US" sz="1050" dirty="0"/>
              <a:t>Predicting customer confidence from response time only</a:t>
            </a:r>
          </a:p>
        </p:txBody>
      </p:sp>
      <p:sp>
        <p:nvSpPr>
          <p:cNvPr id="9" name="Shape 7"/>
          <p:cNvSpPr/>
          <p:nvPr/>
        </p:nvSpPr>
        <p:spPr>
          <a:xfrm>
            <a:off x="4754880" y="804672"/>
            <a:ext cx="4160520" cy="115378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4754880" y="804672"/>
            <a:ext cx="4160520" cy="457200"/>
          </a:xfrm>
          <a:prstGeom prst="rect">
            <a:avLst/>
          </a:prstGeom>
          <a:solidFill>
            <a:srgbClr val="E76F51"/>
          </a:solidFill>
          <a:ln w="12700">
            <a:solidFill>
              <a:srgbClr val="E76F51"/>
            </a:solidFill>
            <a:prstDash val="solid"/>
          </a:ln>
        </p:spPr>
        <p:txBody>
          <a:bodyPr/>
          <a:lstStyle/>
          <a:p>
            <a:endParaRPr lang="en-US"/>
          </a:p>
        </p:txBody>
      </p:sp>
      <p:sp>
        <p:nvSpPr>
          <p:cNvPr id="11" name="Text 9"/>
          <p:cNvSpPr/>
          <p:nvPr/>
        </p:nvSpPr>
        <p:spPr>
          <a:xfrm>
            <a:off x="4892040" y="804672"/>
            <a:ext cx="3840480" cy="457200"/>
          </a:xfrm>
          <a:prstGeom prst="rect">
            <a:avLst/>
          </a:prstGeom>
          <a:noFill/>
          <a:ln/>
        </p:spPr>
        <p:txBody>
          <a:bodyPr wrap="square" rtlCol="0" anchor="ctr"/>
          <a:lstStyle/>
          <a:p>
            <a:pPr marL="0" indent="0">
              <a:buNone/>
            </a:pPr>
            <a:r>
              <a:rPr lang="en-US" sz="1300" b="1" dirty="0">
                <a:solidFill>
                  <a:srgbClr val="FFFFFF"/>
                </a:solidFill>
              </a:rPr>
              <a:t>Multiple Regression</a:t>
            </a:r>
            <a:endParaRPr lang="en-US" sz="1300" dirty="0"/>
          </a:p>
        </p:txBody>
      </p:sp>
      <p:sp>
        <p:nvSpPr>
          <p:cNvPr id="12" name="Text 10"/>
          <p:cNvSpPr/>
          <p:nvPr/>
        </p:nvSpPr>
        <p:spPr>
          <a:xfrm>
            <a:off x="4892040" y="1325880"/>
            <a:ext cx="3840480" cy="1280160"/>
          </a:xfrm>
          <a:prstGeom prst="rect">
            <a:avLst/>
          </a:prstGeom>
          <a:noFill/>
          <a:ln/>
        </p:spPr>
        <p:txBody>
          <a:bodyPr wrap="square" rtlCol="0" anchor="t"/>
          <a:lstStyle/>
          <a:p>
            <a:pPr marL="0" indent="0">
              <a:buNone/>
            </a:pPr>
            <a:r>
              <a:rPr lang="en-US" sz="1050" i="0" dirty="0">
                <a:solidFill>
                  <a:schemeClr val="tx1">
                    <a:lumMod val="85000"/>
                    <a:lumOff val="15000"/>
                  </a:schemeClr>
                </a:solidFill>
                <a:effectLst/>
                <a:latin typeface="quote-cjk-patch"/>
              </a:rPr>
              <a:t>Predicting customer confidence from all 11 predictors</a:t>
            </a:r>
            <a:endParaRPr lang="en-US" sz="1050" dirty="0">
              <a:solidFill>
                <a:schemeClr val="tx1">
                  <a:lumMod val="85000"/>
                  <a:lumOff val="15000"/>
                </a:schemeClr>
              </a:solidFill>
            </a:endParaRPr>
          </a:p>
        </p:txBody>
      </p:sp>
      <p:sp>
        <p:nvSpPr>
          <p:cNvPr id="29" name="Shape 27"/>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30" name="Text 28"/>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pic>
        <p:nvPicPr>
          <p:cNvPr id="36" name="Picture 35">
            <a:extLst>
              <a:ext uri="{FF2B5EF4-FFF2-40B4-BE49-F238E27FC236}">
                <a16:creationId xmlns:a16="http://schemas.microsoft.com/office/drawing/2014/main" id="{ED99E44D-4DBA-439F-BCFC-B1BFA33278F9}"/>
              </a:ext>
            </a:extLst>
          </p:cNvPr>
          <p:cNvPicPr>
            <a:picLocks noChangeAspect="1"/>
          </p:cNvPicPr>
          <p:nvPr/>
        </p:nvPicPr>
        <p:blipFill>
          <a:blip r:embed="rId3"/>
          <a:stretch>
            <a:fillRect/>
          </a:stretch>
        </p:blipFill>
        <p:spPr>
          <a:xfrm>
            <a:off x="864374" y="2077326"/>
            <a:ext cx="7689572" cy="274906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0C0"/>
          </a:solidFill>
          <a:ln w="12700">
            <a:solidFill>
              <a:srgbClr val="0070C0"/>
            </a:solidFill>
            <a:prstDash val="solid"/>
          </a:ln>
        </p:spPr>
        <p:txBody>
          <a:bodyPr/>
          <a:lstStyle/>
          <a:p>
            <a:endParaRPr lang="en-US" dirty="0"/>
          </a:p>
        </p:txBody>
      </p:sp>
      <p:sp>
        <p:nvSpPr>
          <p:cNvPr id="3" name="Shape 1"/>
          <p:cNvSpPr/>
          <p:nvPr/>
        </p:nvSpPr>
        <p:spPr>
          <a:xfrm>
            <a:off x="0" y="0"/>
            <a:ext cx="9144000" cy="685800"/>
          </a:xfrm>
          <a:prstGeom prst="rect">
            <a:avLst/>
          </a:prstGeom>
          <a:solidFill>
            <a:srgbClr val="002060"/>
          </a:solidFill>
          <a:ln w="12700">
            <a:solidFill>
              <a:srgbClr val="005F73"/>
            </a:solidFill>
            <a:prstDash val="solid"/>
          </a:ln>
        </p:spPr>
        <p:txBody>
          <a:bodyPr/>
          <a:lstStyle/>
          <a:p>
            <a:endParaRPr lang="en-US"/>
          </a:p>
        </p:txBody>
      </p:sp>
      <p:sp>
        <p:nvSpPr>
          <p:cNvPr id="4" name="Text 2"/>
          <p:cNvSpPr/>
          <p:nvPr/>
        </p:nvSpPr>
        <p:spPr>
          <a:xfrm>
            <a:off x="365760" y="0"/>
            <a:ext cx="8503920" cy="685800"/>
          </a:xfrm>
          <a:prstGeom prst="rect">
            <a:avLst/>
          </a:prstGeom>
          <a:noFill/>
          <a:ln/>
        </p:spPr>
        <p:txBody>
          <a:bodyPr wrap="square" rtlCol="0" anchor="ctr"/>
          <a:lstStyle/>
          <a:p>
            <a:pPr marL="0" indent="0">
              <a:buNone/>
            </a:pPr>
            <a:r>
              <a:rPr lang="en-US" sz="2000" b="1" dirty="0">
                <a:solidFill>
                  <a:srgbClr val="FFFFFF"/>
                </a:solidFill>
              </a:rPr>
              <a:t>Final Decision</a:t>
            </a:r>
            <a:endParaRPr lang="en-US" sz="2000" dirty="0"/>
          </a:p>
        </p:txBody>
      </p:sp>
      <p:sp>
        <p:nvSpPr>
          <p:cNvPr id="5" name="Shape 3"/>
          <p:cNvSpPr/>
          <p:nvPr/>
        </p:nvSpPr>
        <p:spPr>
          <a:xfrm>
            <a:off x="893928" y="868680"/>
            <a:ext cx="7458502" cy="932824"/>
          </a:xfrm>
          <a:prstGeom prst="rect">
            <a:avLst/>
          </a:prstGeom>
          <a:solidFill>
            <a:srgbClr val="0A9396"/>
          </a:solidFill>
          <a:ln w="12700">
            <a:solidFill>
              <a:srgbClr val="0A9396"/>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457200" y="868680"/>
            <a:ext cx="8229600" cy="1051560"/>
          </a:xfrm>
          <a:prstGeom prst="rect">
            <a:avLst/>
          </a:prstGeom>
          <a:solidFill>
            <a:schemeClr val="accent5">
              <a:lumMod val="75000"/>
            </a:schemeClr>
          </a:solidFill>
          <a:ln/>
        </p:spPr>
        <p:txBody>
          <a:bodyPr wrap="square" rtlCol="0" anchor="ctr"/>
          <a:lstStyle/>
          <a:p>
            <a:pPr marL="0" indent="0" algn="ctr">
              <a:buNone/>
            </a:pPr>
            <a:r>
              <a:rPr lang="en-US" sz="2000" b="1" dirty="0">
                <a:solidFill>
                  <a:srgbClr val="E9C46A"/>
                </a:solidFill>
              </a:rPr>
              <a:t>We reject H₀ </a:t>
            </a:r>
            <a:endParaRPr lang="en-US" sz="1500" dirty="0">
              <a:solidFill>
                <a:srgbClr val="FFFFFF"/>
              </a:solidFill>
            </a:endParaRPr>
          </a:p>
          <a:p>
            <a:pPr marL="0" indent="0" algn="ctr">
              <a:buNone/>
            </a:pPr>
            <a:r>
              <a:rPr lang="en-US" sz="1600" b="0" i="0" dirty="0">
                <a:solidFill>
                  <a:srgbClr val="F9FAFB"/>
                </a:solidFill>
                <a:effectLst/>
                <a:latin typeface="quote-cjk-patch"/>
              </a:rPr>
              <a:t>“</a:t>
            </a:r>
            <a:r>
              <a:rPr lang="en-US" sz="1600" b="0" i="1" dirty="0">
                <a:solidFill>
                  <a:srgbClr val="F9FAFB"/>
                </a:solidFill>
                <a:effectLst/>
                <a:latin typeface="quote-cjk-patch"/>
              </a:rPr>
              <a:t>Customers who receive timely updates feel more confident about the service”.</a:t>
            </a:r>
            <a:endParaRPr lang="en-US" sz="2000" dirty="0"/>
          </a:p>
        </p:txBody>
      </p:sp>
      <p:sp>
        <p:nvSpPr>
          <p:cNvPr id="27" name="Shape 25"/>
          <p:cNvSpPr/>
          <p:nvPr/>
        </p:nvSpPr>
        <p:spPr>
          <a:xfrm>
            <a:off x="0" y="4846320"/>
            <a:ext cx="9144000" cy="297180"/>
          </a:xfrm>
          <a:prstGeom prst="rect">
            <a:avLst/>
          </a:prstGeom>
          <a:solidFill>
            <a:srgbClr val="005F73"/>
          </a:solidFill>
          <a:ln w="12700">
            <a:solidFill>
              <a:srgbClr val="005F73"/>
            </a:solidFill>
            <a:prstDash val="solid"/>
          </a:ln>
        </p:spPr>
        <p:txBody>
          <a:bodyPr/>
          <a:lstStyle/>
          <a:p>
            <a:endParaRPr lang="en-US"/>
          </a:p>
        </p:txBody>
      </p:sp>
      <p:sp>
        <p:nvSpPr>
          <p:cNvPr id="28" name="Text 26"/>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graphicFrame>
        <p:nvGraphicFramePr>
          <p:cNvPr id="29" name="Table 29">
            <a:extLst>
              <a:ext uri="{FF2B5EF4-FFF2-40B4-BE49-F238E27FC236}">
                <a16:creationId xmlns:a16="http://schemas.microsoft.com/office/drawing/2014/main" id="{EE4B53ED-33DA-45E6-8825-F1DFAC13C7C6}"/>
              </a:ext>
            </a:extLst>
          </p:cNvPr>
          <p:cNvGraphicFramePr>
            <a:graphicFrameLocks noGrp="1"/>
          </p:cNvGraphicFramePr>
          <p:nvPr>
            <p:extLst>
              <p:ext uri="{D42A27DB-BD31-4B8C-83A1-F6EECF244321}">
                <p14:modId xmlns:p14="http://schemas.microsoft.com/office/powerpoint/2010/main" val="2284874634"/>
              </p:ext>
            </p:extLst>
          </p:nvPr>
        </p:nvGraphicFramePr>
        <p:xfrm>
          <a:off x="1316796" y="2404753"/>
          <a:ext cx="6674999" cy="1989825"/>
        </p:xfrm>
        <a:graphic>
          <a:graphicData uri="http://schemas.openxmlformats.org/drawingml/2006/table">
            <a:tbl>
              <a:tblPr firstRow="1" bandRow="1">
                <a:tableStyleId>{5C22544A-7EE6-4342-B048-85BDC9FD1C3A}</a:tableStyleId>
              </a:tblPr>
              <a:tblGrid>
                <a:gridCol w="1140832">
                  <a:extLst>
                    <a:ext uri="{9D8B030D-6E8A-4147-A177-3AD203B41FA5}">
                      <a16:colId xmlns:a16="http://schemas.microsoft.com/office/drawing/2014/main" val="643700609"/>
                    </a:ext>
                  </a:extLst>
                </a:gridCol>
                <a:gridCol w="4229775">
                  <a:extLst>
                    <a:ext uri="{9D8B030D-6E8A-4147-A177-3AD203B41FA5}">
                      <a16:colId xmlns:a16="http://schemas.microsoft.com/office/drawing/2014/main" val="3619966797"/>
                    </a:ext>
                  </a:extLst>
                </a:gridCol>
                <a:gridCol w="1304392">
                  <a:extLst>
                    <a:ext uri="{9D8B030D-6E8A-4147-A177-3AD203B41FA5}">
                      <a16:colId xmlns:a16="http://schemas.microsoft.com/office/drawing/2014/main" val="1310379326"/>
                    </a:ext>
                  </a:extLst>
                </a:gridCol>
              </a:tblGrid>
              <a:tr h="529052">
                <a:tc>
                  <a:txBody>
                    <a:bodyPr/>
                    <a:lstStyle/>
                    <a:p>
                      <a:r>
                        <a:rPr lang="en-US" sz="1200" b="0" i="0" kern="1200" dirty="0">
                          <a:solidFill>
                            <a:schemeClr val="lt1"/>
                          </a:solidFill>
                          <a:effectLst/>
                          <a:latin typeface="+mn-lt"/>
                          <a:ea typeface="+mn-ea"/>
                          <a:cs typeface="+mn-cs"/>
                        </a:rPr>
                        <a:t>  Analytics Type</a:t>
                      </a:r>
                      <a:endParaRPr lang="en-US" sz="1200" dirty="0"/>
                    </a:p>
                  </a:txBody>
                  <a:tcPr/>
                </a:tc>
                <a:tc>
                  <a:txBody>
                    <a:bodyPr/>
                    <a:lstStyle/>
                    <a:p>
                      <a:r>
                        <a:rPr lang="en-US" sz="1200" b="0" i="0" kern="1200" dirty="0">
                          <a:solidFill>
                            <a:schemeClr val="lt1"/>
                          </a:solidFill>
                          <a:effectLst/>
                          <a:latin typeface="+mn-lt"/>
                          <a:ea typeface="+mn-ea"/>
                          <a:cs typeface="+mn-cs"/>
                        </a:rPr>
                        <a:t>                                                Evidence</a:t>
                      </a:r>
                      <a:endParaRPr lang="en-US" sz="1200" dirty="0"/>
                    </a:p>
                  </a:txBody>
                  <a:tcPr/>
                </a:tc>
                <a:tc>
                  <a:txBody>
                    <a:bodyPr/>
                    <a:lstStyle/>
                    <a:p>
                      <a:r>
                        <a:rPr lang="en-US" sz="1200" b="0" i="0" kern="1200" dirty="0">
                          <a:solidFill>
                            <a:schemeClr val="lt1"/>
                          </a:solidFill>
                          <a:effectLst/>
                          <a:latin typeface="+mn-lt"/>
                          <a:ea typeface="+mn-ea"/>
                          <a:cs typeface="+mn-cs"/>
                        </a:rPr>
                        <a:t>         Verdict</a:t>
                      </a:r>
                      <a:endParaRPr lang="en-US" sz="1200" dirty="0"/>
                    </a:p>
                  </a:txBody>
                  <a:tcPr/>
                </a:tc>
                <a:extLst>
                  <a:ext uri="{0D108BD9-81ED-4DB2-BD59-A6C34878D82A}">
                    <a16:rowId xmlns:a16="http://schemas.microsoft.com/office/drawing/2014/main" val="1572706190"/>
                  </a:ext>
                </a:extLst>
              </a:tr>
              <a:tr h="429120">
                <a:tc>
                  <a:txBody>
                    <a:bodyPr/>
                    <a:lstStyle/>
                    <a:p>
                      <a:r>
                        <a:rPr lang="en-US" sz="1000" dirty="0"/>
                        <a:t>Descriptive </a:t>
                      </a:r>
                    </a:p>
                  </a:txBody>
                  <a:tcPr/>
                </a:tc>
                <a:tc>
                  <a:txBody>
                    <a:bodyPr/>
                    <a:lstStyle/>
                    <a:p>
                      <a:r>
                        <a:rPr lang="en-US" sz="900" b="0" i="0" kern="1200" dirty="0">
                          <a:solidFill>
                            <a:schemeClr val="dk1"/>
                          </a:solidFill>
                          <a:effectLst/>
                          <a:latin typeface="+mn-lt"/>
                          <a:ea typeface="+mn-ea"/>
                          <a:cs typeface="+mn-cs"/>
                        </a:rPr>
                        <a:t>High‑timeliness group shows mean quality score ≈75, Low group ≈64; response time and satisfaction are visibly negatively correlated in scatterplots.</a:t>
                      </a:r>
                      <a:endParaRPr lang="en-US" sz="900" dirty="0"/>
                    </a:p>
                  </a:txBody>
                  <a:tcPr/>
                </a:tc>
                <a:tc>
                  <a:txBody>
                    <a:bodyPr/>
                    <a:lstStyle/>
                    <a:p>
                      <a:r>
                        <a:rPr lang="en-US" sz="900" dirty="0"/>
                        <a:t>Supports H1</a:t>
                      </a:r>
                    </a:p>
                  </a:txBody>
                  <a:tcPr/>
                </a:tc>
                <a:extLst>
                  <a:ext uri="{0D108BD9-81ED-4DB2-BD59-A6C34878D82A}">
                    <a16:rowId xmlns:a16="http://schemas.microsoft.com/office/drawing/2014/main" val="2434206691"/>
                  </a:ext>
                </a:extLst>
              </a:tr>
              <a:tr h="449695">
                <a:tc>
                  <a:txBody>
                    <a:bodyPr/>
                    <a:lstStyle/>
                    <a:p>
                      <a:r>
                        <a:rPr lang="en-US" sz="1000" dirty="0"/>
                        <a:t>Inferential</a:t>
                      </a:r>
                    </a:p>
                  </a:txBody>
                  <a:tcPr/>
                </a:tc>
                <a:tc>
                  <a:txBody>
                    <a:bodyPr/>
                    <a:lstStyle/>
                    <a:p>
                      <a:r>
                        <a:rPr lang="en-US" sz="900" b="0" i="0" kern="1200" dirty="0">
                          <a:solidFill>
                            <a:schemeClr val="dk1"/>
                          </a:solidFill>
                          <a:effectLst/>
                          <a:latin typeface="+mn-lt"/>
                          <a:ea typeface="+mn-ea"/>
                          <a:cs typeface="+mn-cs"/>
                        </a:rPr>
                        <a:t>Correlation is strong and negative (r = –0.60). ANOVA confirms groups differ clearly. Even after accounting for external factors, response time still matters significantly.</a:t>
                      </a:r>
                      <a:endParaRPr lang="en-US" sz="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Supports H1</a:t>
                      </a:r>
                    </a:p>
                    <a:p>
                      <a:endParaRPr lang="en-US" sz="1050" dirty="0"/>
                    </a:p>
                  </a:txBody>
                  <a:tcPr/>
                </a:tc>
                <a:extLst>
                  <a:ext uri="{0D108BD9-81ED-4DB2-BD59-A6C34878D82A}">
                    <a16:rowId xmlns:a16="http://schemas.microsoft.com/office/drawing/2014/main" val="3449640558"/>
                  </a:ext>
                </a:extLst>
              </a:tr>
              <a:tr h="581958">
                <a:tc>
                  <a:txBody>
                    <a:bodyPr/>
                    <a:lstStyle/>
                    <a:p>
                      <a:r>
                        <a:rPr lang="en-US" sz="1050" dirty="0"/>
                        <a:t>Predictive</a:t>
                      </a:r>
                    </a:p>
                  </a:txBody>
                  <a:tcPr/>
                </a:tc>
                <a:tc>
                  <a:txBody>
                    <a:bodyPr/>
                    <a:lstStyle/>
                    <a:p>
                      <a:r>
                        <a:rPr lang="en-US" sz="900" b="0" i="0" kern="1200" dirty="0">
                          <a:solidFill>
                            <a:schemeClr val="dk1"/>
                          </a:solidFill>
                          <a:effectLst/>
                          <a:latin typeface="+mn-lt"/>
                          <a:ea typeface="+mn-ea"/>
                          <a:cs typeface="+mn-cs"/>
                        </a:rPr>
                        <a:t>Simple regression R² = 0.36 (each minute → –0.30 points); Full model R² = 0.88 demonstrates strong predictive power, with response time always a key negative predictor.</a:t>
                      </a:r>
                      <a:endParaRPr lang="en-US"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Supports H1</a:t>
                      </a:r>
                    </a:p>
                    <a:p>
                      <a:endParaRPr lang="en-US" dirty="0"/>
                    </a:p>
                  </a:txBody>
                  <a:tcPr/>
                </a:tc>
                <a:extLst>
                  <a:ext uri="{0D108BD9-81ED-4DB2-BD59-A6C34878D82A}">
                    <a16:rowId xmlns:a16="http://schemas.microsoft.com/office/drawing/2014/main" val="58816748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2060"/>
          </a:solidFill>
          <a:ln w="12700">
            <a:solidFill>
              <a:srgbClr val="0D1B2A"/>
            </a:solidFill>
            <a:prstDash val="solid"/>
          </a:ln>
        </p:spPr>
        <p:txBody>
          <a:bodyPr/>
          <a:lstStyle/>
          <a:p>
            <a:endParaRPr lang="en-US"/>
          </a:p>
        </p:txBody>
      </p:sp>
      <p:sp>
        <p:nvSpPr>
          <p:cNvPr id="3" name="Shape 1"/>
          <p:cNvSpPr/>
          <p:nvPr/>
        </p:nvSpPr>
        <p:spPr>
          <a:xfrm>
            <a:off x="0" y="0"/>
            <a:ext cx="164592" cy="5143500"/>
          </a:xfrm>
          <a:prstGeom prst="rect">
            <a:avLst/>
          </a:prstGeom>
          <a:solidFill>
            <a:srgbClr val="0070C0"/>
          </a:solidFill>
          <a:ln w="12700">
            <a:solidFill>
              <a:srgbClr val="0070C0"/>
            </a:solidFill>
            <a:prstDash val="solid"/>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buNone/>
            </a:pPr>
            <a:r>
              <a:rPr lang="en-US" sz="2000" b="1" dirty="0">
                <a:solidFill>
                  <a:srgbClr val="FFFFFF"/>
                </a:solidFill>
              </a:rPr>
              <a:t>Conclusion</a:t>
            </a:r>
            <a:endParaRPr lang="en-US" sz="2000" dirty="0"/>
          </a:p>
        </p:txBody>
      </p:sp>
      <p:sp>
        <p:nvSpPr>
          <p:cNvPr id="5" name="Shape 3"/>
          <p:cNvSpPr/>
          <p:nvPr/>
        </p:nvSpPr>
        <p:spPr>
          <a:xfrm>
            <a:off x="320039" y="804672"/>
            <a:ext cx="8598877" cy="822960"/>
          </a:xfrm>
          <a:prstGeom prst="rect">
            <a:avLst/>
          </a:prstGeom>
          <a:solidFill>
            <a:schemeClr val="accent2"/>
          </a:solidFill>
          <a:ln w="12700">
            <a:solidFill>
              <a:srgbClr val="005F73"/>
            </a:solidFill>
            <a:prstDash val="solid"/>
          </a:ln>
          <a:effectLst>
            <a:outerShdw blurRad="101600" dist="38100" dir="8100000" algn="bl" rotWithShape="0">
              <a:srgbClr val="000000">
                <a:alpha val="10000"/>
              </a:srgbClr>
            </a:outerShdw>
          </a:effectLst>
        </p:spPr>
        <p:txBody>
          <a:bodyPr/>
          <a:lstStyle/>
          <a:p>
            <a:endParaRPr lang="en-US" dirty="0"/>
          </a:p>
        </p:txBody>
      </p:sp>
      <p:sp>
        <p:nvSpPr>
          <p:cNvPr id="6" name="Text 4"/>
          <p:cNvSpPr/>
          <p:nvPr/>
        </p:nvSpPr>
        <p:spPr>
          <a:xfrm>
            <a:off x="457200" y="804672"/>
            <a:ext cx="8321040" cy="822960"/>
          </a:xfrm>
          <a:prstGeom prst="rect">
            <a:avLst/>
          </a:prstGeom>
          <a:solidFill>
            <a:schemeClr val="bg2">
              <a:lumMod val="10000"/>
            </a:schemeClr>
          </a:solidFill>
          <a:ln/>
        </p:spPr>
        <p:txBody>
          <a:bodyPr wrap="square" rtlCol="0" anchor="ctr"/>
          <a:lstStyle/>
          <a:p>
            <a:pPr marL="0" indent="0">
              <a:buNone/>
            </a:pPr>
            <a:r>
              <a:rPr lang="en-US" sz="1200" dirty="0">
                <a:solidFill>
                  <a:srgbClr val="FFFFFF"/>
                </a:solidFill>
              </a:rPr>
              <a:t>This study confirms that timely updates significantly increase customer confidence, even after controlling for environmental and </a:t>
            </a:r>
            <a:r>
              <a:rPr lang="en-US" sz="1200" dirty="0" err="1">
                <a:solidFill>
                  <a:srgbClr val="FFFFFF"/>
                </a:solidFill>
              </a:rPr>
              <a:t>behavioural</a:t>
            </a:r>
            <a:r>
              <a:rPr lang="en-US" sz="1200" dirty="0">
                <a:solidFill>
                  <a:srgbClr val="FFFFFF"/>
                </a:solidFill>
              </a:rPr>
              <a:t> factors.</a:t>
            </a:r>
            <a:endParaRPr lang="en-US" sz="1200" dirty="0"/>
          </a:p>
        </p:txBody>
      </p:sp>
      <p:sp>
        <p:nvSpPr>
          <p:cNvPr id="7" name="Shape 5"/>
          <p:cNvSpPr/>
          <p:nvPr/>
        </p:nvSpPr>
        <p:spPr>
          <a:xfrm>
            <a:off x="320722" y="1856232"/>
            <a:ext cx="8598194" cy="27931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320040" y="1783080"/>
            <a:ext cx="8598194" cy="438912"/>
          </a:xfrm>
          <a:prstGeom prst="rect">
            <a:avLst/>
          </a:prstGeom>
          <a:solidFill>
            <a:schemeClr val="bg1">
              <a:lumMod val="50000"/>
            </a:schemeClr>
          </a:solidFill>
          <a:ln w="12700">
            <a:solidFill>
              <a:srgbClr val="0A9396"/>
            </a:solidFill>
            <a:prstDash val="solid"/>
          </a:ln>
        </p:spPr>
        <p:txBody>
          <a:bodyPr/>
          <a:lstStyle/>
          <a:p>
            <a:endParaRPr lang="en-US" dirty="0"/>
          </a:p>
        </p:txBody>
      </p:sp>
      <p:sp>
        <p:nvSpPr>
          <p:cNvPr id="9" name="Text 7"/>
          <p:cNvSpPr/>
          <p:nvPr/>
        </p:nvSpPr>
        <p:spPr>
          <a:xfrm>
            <a:off x="457200" y="1783080"/>
            <a:ext cx="2468880" cy="438912"/>
          </a:xfrm>
          <a:prstGeom prst="rect">
            <a:avLst/>
          </a:prstGeom>
          <a:noFill/>
          <a:ln/>
        </p:spPr>
        <p:txBody>
          <a:bodyPr wrap="square" rtlCol="0" anchor="ctr"/>
          <a:lstStyle/>
          <a:p>
            <a:pPr marL="0" indent="0">
              <a:buNone/>
            </a:pPr>
            <a:r>
              <a:rPr lang="en-US" b="1" dirty="0">
                <a:solidFill>
                  <a:srgbClr val="FFFFFF"/>
                </a:solidFill>
              </a:rPr>
              <a:t>Findings</a:t>
            </a:r>
            <a:endParaRPr lang="en-US" dirty="0"/>
          </a:p>
        </p:txBody>
      </p:sp>
      <p:sp>
        <p:nvSpPr>
          <p:cNvPr id="10" name="Text 8"/>
          <p:cNvSpPr/>
          <p:nvPr/>
        </p:nvSpPr>
        <p:spPr>
          <a:xfrm>
            <a:off x="352794" y="2377439"/>
            <a:ext cx="8242566" cy="1954905"/>
          </a:xfrm>
          <a:prstGeom prst="rect">
            <a:avLst/>
          </a:prstGeom>
          <a:noFill/>
          <a:ln/>
        </p:spPr>
        <p:txBody>
          <a:bodyPr wrap="square" rtlCol="0" anchor="ctr"/>
          <a:lstStyle/>
          <a:p>
            <a:pPr marL="342900" indent="-342900">
              <a:buSzPct val="100000"/>
              <a:buChar char="•"/>
            </a:pPr>
            <a:endParaRPr lang="en-US" sz="1400" dirty="0">
              <a:solidFill>
                <a:srgbClr val="1E293B"/>
              </a:solidFill>
            </a:endParaRPr>
          </a:p>
          <a:p>
            <a:pPr marL="171450" indent="-171450">
              <a:buSzPct val="100000"/>
              <a:buFont typeface="Arial" panose="020B0604020202020204" pitchFamily="34" charset="0"/>
              <a:buChar char="•"/>
            </a:pPr>
            <a:r>
              <a:rPr lang="en-US" sz="1400" dirty="0">
                <a:solidFill>
                  <a:srgbClr val="1E293B"/>
                </a:solidFill>
              </a:rPr>
              <a:t>Strong negative correlation (r = –0.60) between response time and satisfaction</a:t>
            </a:r>
          </a:p>
          <a:p>
            <a:pPr marL="342900" indent="-342900">
              <a:buSzPct val="100000"/>
              <a:buChar char="•"/>
            </a:pPr>
            <a:endParaRPr lang="en-US" sz="1400" dirty="0">
              <a:solidFill>
                <a:srgbClr val="1E293B"/>
              </a:solidFill>
            </a:endParaRPr>
          </a:p>
          <a:p>
            <a:pPr marL="171450" indent="-171450">
              <a:buSzPct val="100000"/>
              <a:buFont typeface="Arial" panose="020B0604020202020204" pitchFamily="34" charset="0"/>
              <a:buChar char="•"/>
            </a:pPr>
            <a:r>
              <a:rPr lang="en-US" sz="1400" dirty="0">
                <a:solidFill>
                  <a:srgbClr val="1E293B"/>
                </a:solidFill>
              </a:rPr>
              <a:t>High‑timeliness customers score roughly 12 points higher than low‑timeliness customers (ANOVA, p &lt; 0.001)</a:t>
            </a:r>
          </a:p>
          <a:p>
            <a:pPr marL="342900" indent="-342900">
              <a:buSzPct val="100000"/>
              <a:buChar char="•"/>
            </a:pPr>
            <a:endParaRPr lang="en-US" sz="1400" dirty="0">
              <a:solidFill>
                <a:srgbClr val="1E293B"/>
              </a:solidFill>
            </a:endParaRPr>
          </a:p>
          <a:p>
            <a:pPr marL="171450" indent="-171450">
              <a:buSzPct val="100000"/>
              <a:buFont typeface="Arial" panose="020B0604020202020204" pitchFamily="34" charset="0"/>
              <a:buChar char="•"/>
            </a:pPr>
            <a:r>
              <a:rPr lang="en-US" sz="1400" dirty="0">
                <a:solidFill>
                  <a:srgbClr val="1E293B"/>
                </a:solidFill>
              </a:rPr>
              <a:t>Every extra minute of waiting reduces satisfaction by about 0.30 points (simple regression, p &lt; 0.001)</a:t>
            </a:r>
          </a:p>
          <a:p>
            <a:pPr marL="342900" indent="-342900">
              <a:buSzPct val="100000"/>
              <a:buChar char="•"/>
            </a:pPr>
            <a:endParaRPr lang="en-US" sz="1400" dirty="0">
              <a:solidFill>
                <a:srgbClr val="1E293B"/>
              </a:solidFill>
            </a:endParaRPr>
          </a:p>
          <a:p>
            <a:pPr marL="171450" indent="-171450">
              <a:buSzPct val="100000"/>
              <a:buFont typeface="Arial" panose="020B0604020202020204" pitchFamily="34" charset="0"/>
              <a:buChar char="•"/>
            </a:pPr>
            <a:r>
              <a:rPr lang="en-US" sz="1400" dirty="0">
                <a:solidFill>
                  <a:srgbClr val="1E293B"/>
                </a:solidFill>
              </a:rPr>
              <a:t>Response time remains a significant predictor (b = –0.30) in the full model (adj. R² = 0.88) after controlling all other factors</a:t>
            </a:r>
          </a:p>
          <a:p>
            <a:pPr marL="342900" indent="-342900">
              <a:buSzPct val="100000"/>
              <a:buChar char="•"/>
            </a:pPr>
            <a:endParaRPr lang="en-US" sz="1400" dirty="0">
              <a:solidFill>
                <a:srgbClr val="1E293B"/>
              </a:solidFill>
            </a:endParaRPr>
          </a:p>
          <a:p>
            <a:pPr marL="171450" indent="-171450">
              <a:buSzPct val="100000"/>
              <a:buFont typeface="Arial" panose="020B0604020202020204" pitchFamily="34" charset="0"/>
              <a:buChar char="•"/>
            </a:pPr>
            <a:r>
              <a:rPr lang="en-US" sz="1400" dirty="0">
                <a:solidFill>
                  <a:srgbClr val="1E293B"/>
                </a:solidFill>
              </a:rPr>
              <a:t>Noise and air quality also reduce confidence; door status does not</a:t>
            </a:r>
          </a:p>
        </p:txBody>
      </p:sp>
      <p:sp>
        <p:nvSpPr>
          <p:cNvPr id="20" name="Shape 18"/>
          <p:cNvSpPr/>
          <p:nvPr/>
        </p:nvSpPr>
        <p:spPr>
          <a:xfrm>
            <a:off x="0" y="4846320"/>
            <a:ext cx="9144000" cy="297180"/>
          </a:xfrm>
          <a:prstGeom prst="rect">
            <a:avLst/>
          </a:prstGeom>
          <a:solidFill>
            <a:srgbClr val="0D1B2A"/>
          </a:solidFill>
          <a:ln w="12700">
            <a:solidFill>
              <a:srgbClr val="0D1B2A"/>
            </a:solidFill>
            <a:prstDash val="solid"/>
          </a:ln>
        </p:spPr>
        <p:txBody>
          <a:bodyPr/>
          <a:lstStyle/>
          <a:p>
            <a:endParaRPr lang="en-US"/>
          </a:p>
        </p:txBody>
      </p:sp>
      <p:sp>
        <p:nvSpPr>
          <p:cNvPr id="21" name="Text 19"/>
          <p:cNvSpPr/>
          <p:nvPr/>
        </p:nvSpPr>
        <p:spPr>
          <a:xfrm>
            <a:off x="274320" y="4846320"/>
            <a:ext cx="8595360" cy="297180"/>
          </a:xfrm>
          <a:prstGeom prst="rect">
            <a:avLst/>
          </a:prstGeom>
          <a:noFill/>
          <a:ln/>
        </p:spPr>
        <p:txBody>
          <a:bodyPr wrap="square" rtlCol="0" anchor="ctr"/>
          <a:lstStyle/>
          <a:p>
            <a:pPr marL="0" indent="0" algn="ctr">
              <a:buNone/>
            </a:pPr>
            <a:r>
              <a:rPr lang="en-US" sz="900" dirty="0">
                <a:solidFill>
                  <a:srgbClr val="94A3B8"/>
                </a:solidFill>
              </a:rPr>
              <a:t>IT3011 · Theory and Practices in Statistical Modelling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TotalTime>
  <Words>1490</Words>
  <Application>Microsoft Office PowerPoint</Application>
  <PresentationFormat>On-screen Show (16:9)</PresentationFormat>
  <Paragraphs>247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quote-cjk-patch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Noise in Input Data Reduces Model Robustness</dc:title>
  <dc:subject>PptxGenJS Presentation</dc:subject>
  <dc:creator>IT3011 – TPSM Group</dc:creator>
  <cp:lastModifiedBy>KARUNARATHNA P.M.R.D it23626010</cp:lastModifiedBy>
  <cp:revision>11</cp:revision>
  <dcterms:created xsi:type="dcterms:W3CDTF">2026-04-03T11:04:19Z</dcterms:created>
  <dcterms:modified xsi:type="dcterms:W3CDTF">2026-06-05T18:20:21Z</dcterms:modified>
</cp:coreProperties>
</file>